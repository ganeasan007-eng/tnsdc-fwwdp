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59818" y="14350"/>
            <a:ext cx="4732655" cy="6844030"/>
          </a:xfrm>
          <a:custGeom>
            <a:avLst/>
            <a:gdLst/>
            <a:ahLst/>
            <a:cxnLst/>
            <a:rect l="l" t="t" r="r" b="b"/>
            <a:pathLst>
              <a:path w="4732655" h="6844030">
                <a:moveTo>
                  <a:pt x="1927132" y="0"/>
                </a:moveTo>
                <a:lnTo>
                  <a:pt x="3135780" y="6843649"/>
                </a:lnTo>
              </a:path>
              <a:path w="4732655" h="6844030">
                <a:moveTo>
                  <a:pt x="4732181" y="3689307"/>
                </a:moveTo>
                <a:lnTo>
                  <a:pt x="0" y="6843649"/>
                </a:lnTo>
              </a:path>
            </a:pathLst>
          </a:custGeom>
          <a:ln w="9525">
            <a:solidFill>
              <a:srgbClr val="5FC9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900" y="0"/>
                </a:moveTo>
                <a:lnTo>
                  <a:pt x="2044446" y="0"/>
                </a:lnTo>
                <a:lnTo>
                  <a:pt x="0" y="6857995"/>
                </a:lnTo>
                <a:lnTo>
                  <a:pt x="3009900" y="6857995"/>
                </a:lnTo>
                <a:lnTo>
                  <a:pt x="3009900" y="0"/>
                </a:lnTo>
                <a:close/>
              </a:path>
            </a:pathLst>
          </a:custGeom>
          <a:solidFill>
            <a:srgbClr val="5FC9ED">
              <a:alpha val="3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2590419" y="0"/>
                </a:moveTo>
                <a:lnTo>
                  <a:pt x="0" y="0"/>
                </a:lnTo>
                <a:lnTo>
                  <a:pt x="1209421" y="6857995"/>
                </a:lnTo>
                <a:lnTo>
                  <a:pt x="2590419" y="6857995"/>
                </a:lnTo>
                <a:lnTo>
                  <a:pt x="2590419" y="0"/>
                </a:lnTo>
                <a:close/>
              </a:path>
            </a:pathLst>
          </a:custGeom>
          <a:solidFill>
            <a:srgbClr val="5FC9ED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EE2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2857246" y="0"/>
                </a:moveTo>
                <a:lnTo>
                  <a:pt x="0" y="0"/>
                </a:lnTo>
                <a:lnTo>
                  <a:pt x="2472817" y="6857995"/>
                </a:lnTo>
                <a:lnTo>
                  <a:pt x="2857246" y="6857995"/>
                </a:lnTo>
                <a:lnTo>
                  <a:pt x="2857246" y="0"/>
                </a:lnTo>
                <a:close/>
              </a:path>
            </a:pathLst>
          </a:custGeom>
          <a:solidFill>
            <a:srgbClr val="17AEE2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400" y="0"/>
                </a:moveTo>
                <a:lnTo>
                  <a:pt x="1022476" y="0"/>
                </a:lnTo>
                <a:lnTo>
                  <a:pt x="0" y="6857995"/>
                </a:lnTo>
                <a:lnTo>
                  <a:pt x="1295400" y="6857995"/>
                </a:lnTo>
                <a:lnTo>
                  <a:pt x="1295400" y="0"/>
                </a:lnTo>
                <a:close/>
              </a:path>
            </a:pathLst>
          </a:custGeom>
          <a:solidFill>
            <a:srgbClr val="2C83C3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1257046" y="0"/>
                </a:moveTo>
                <a:lnTo>
                  <a:pt x="0" y="0"/>
                </a:lnTo>
                <a:lnTo>
                  <a:pt x="1115695" y="6857995"/>
                </a:lnTo>
                <a:lnTo>
                  <a:pt x="1257046" y="6857995"/>
                </a:lnTo>
                <a:lnTo>
                  <a:pt x="1257046" y="0"/>
                </a:lnTo>
                <a:close/>
              </a:path>
            </a:pathLst>
          </a:custGeom>
          <a:solidFill>
            <a:srgbClr val="216092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EE2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9ED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5967" y="370840"/>
            <a:ext cx="3896995" cy="678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59818" y="14350"/>
            <a:ext cx="4732655" cy="6844030"/>
          </a:xfrm>
          <a:custGeom>
            <a:avLst/>
            <a:gdLst/>
            <a:ahLst/>
            <a:cxnLst/>
            <a:rect l="l" t="t" r="r" b="b"/>
            <a:pathLst>
              <a:path w="4732655" h="6844030">
                <a:moveTo>
                  <a:pt x="1927132" y="0"/>
                </a:moveTo>
                <a:lnTo>
                  <a:pt x="3135780" y="6843649"/>
                </a:lnTo>
              </a:path>
              <a:path w="4732655" h="6844030">
                <a:moveTo>
                  <a:pt x="4732181" y="3689307"/>
                </a:moveTo>
                <a:lnTo>
                  <a:pt x="0" y="6843649"/>
                </a:lnTo>
              </a:path>
            </a:pathLst>
          </a:custGeom>
          <a:ln w="9525">
            <a:solidFill>
              <a:srgbClr val="5FC9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900" y="0"/>
                </a:moveTo>
                <a:lnTo>
                  <a:pt x="2044446" y="0"/>
                </a:lnTo>
                <a:lnTo>
                  <a:pt x="0" y="6857995"/>
                </a:lnTo>
                <a:lnTo>
                  <a:pt x="3009900" y="6857995"/>
                </a:lnTo>
                <a:lnTo>
                  <a:pt x="3009900" y="0"/>
                </a:lnTo>
                <a:close/>
              </a:path>
            </a:pathLst>
          </a:custGeom>
          <a:solidFill>
            <a:srgbClr val="5FC9ED">
              <a:alpha val="3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2590419" y="0"/>
                </a:moveTo>
                <a:lnTo>
                  <a:pt x="0" y="0"/>
                </a:lnTo>
                <a:lnTo>
                  <a:pt x="1209421" y="6857995"/>
                </a:lnTo>
                <a:lnTo>
                  <a:pt x="2590419" y="6857995"/>
                </a:lnTo>
                <a:lnTo>
                  <a:pt x="2590419" y="0"/>
                </a:lnTo>
                <a:close/>
              </a:path>
            </a:pathLst>
          </a:custGeom>
          <a:solidFill>
            <a:srgbClr val="5FC9ED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EE2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2857246" y="0"/>
                </a:moveTo>
                <a:lnTo>
                  <a:pt x="0" y="0"/>
                </a:lnTo>
                <a:lnTo>
                  <a:pt x="2472817" y="6857995"/>
                </a:lnTo>
                <a:lnTo>
                  <a:pt x="2857246" y="6857995"/>
                </a:lnTo>
                <a:lnTo>
                  <a:pt x="2857246" y="0"/>
                </a:lnTo>
                <a:close/>
              </a:path>
            </a:pathLst>
          </a:custGeom>
          <a:solidFill>
            <a:srgbClr val="17AEE2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400" y="0"/>
                </a:moveTo>
                <a:lnTo>
                  <a:pt x="1022476" y="0"/>
                </a:lnTo>
                <a:lnTo>
                  <a:pt x="0" y="6857995"/>
                </a:lnTo>
                <a:lnTo>
                  <a:pt x="1295400" y="6857995"/>
                </a:lnTo>
                <a:lnTo>
                  <a:pt x="1295400" y="0"/>
                </a:lnTo>
                <a:close/>
              </a:path>
            </a:pathLst>
          </a:custGeom>
          <a:solidFill>
            <a:srgbClr val="2C83C3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1257046" y="0"/>
                </a:moveTo>
                <a:lnTo>
                  <a:pt x="0" y="0"/>
                </a:lnTo>
                <a:lnTo>
                  <a:pt x="1115695" y="6857995"/>
                </a:lnTo>
                <a:lnTo>
                  <a:pt x="1257046" y="6857995"/>
                </a:lnTo>
                <a:lnTo>
                  <a:pt x="1257046" y="0"/>
                </a:lnTo>
                <a:close/>
              </a:path>
            </a:pathLst>
          </a:custGeom>
          <a:solidFill>
            <a:srgbClr val="216092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EE2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9ED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482" y="282955"/>
            <a:ext cx="9235440" cy="1142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31185" y="1742058"/>
            <a:ext cx="7806690" cy="405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362055" y="6475579"/>
            <a:ext cx="16446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6300" y="990600"/>
            <a:ext cx="1743075" cy="1333500"/>
            <a:chOff x="876300" y="990600"/>
            <a:chExt cx="1743075" cy="1333500"/>
          </a:xfrm>
        </p:grpSpPr>
        <p:sp>
          <p:nvSpPr>
            <p:cNvPr id="3" name="object 3" descr=""/>
            <p:cNvSpPr/>
            <p:nvPr/>
          </p:nvSpPr>
          <p:spPr>
            <a:xfrm>
              <a:off x="876300" y="12668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9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971675" y="9906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C92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28590" y="4444"/>
            <a:ext cx="2842895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>
                <a:solidFill>
                  <a:srgbClr val="0E0E0E"/>
                </a:solidFill>
                <a:latin typeface="Times New Roman"/>
                <a:cs typeface="Times New Roman"/>
              </a:rPr>
              <a:t>Digital</a:t>
            </a:r>
            <a:r>
              <a:rPr dirty="0" sz="3200" spc="-4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0E0E0E"/>
                </a:solidFill>
                <a:latin typeface="Times New Roman"/>
                <a:cs typeface="Times New Roman"/>
              </a:rPr>
              <a:t>Portfolio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55675" y="2039556"/>
            <a:ext cx="8630285" cy="2957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67890" algn="l"/>
                <a:tab pos="3322954" algn="l"/>
              </a:tabLst>
            </a:pPr>
            <a:r>
              <a:rPr dirty="0" sz="2400" i="1">
                <a:latin typeface="Calibri"/>
                <a:cs typeface="Calibri"/>
              </a:rPr>
              <a:t>STUDENT</a:t>
            </a:r>
            <a:r>
              <a:rPr dirty="0" sz="2400" spc="-100" i="1">
                <a:latin typeface="Calibri"/>
                <a:cs typeface="Calibri"/>
              </a:rPr>
              <a:t> </a:t>
            </a:r>
            <a:r>
              <a:rPr dirty="0" sz="2400" spc="-20" i="1">
                <a:latin typeface="Calibri"/>
                <a:cs typeface="Calibri"/>
              </a:rPr>
              <a:t>NAME</a:t>
            </a:r>
            <a:r>
              <a:rPr dirty="0" sz="2400" i="1">
                <a:latin typeface="Calibri"/>
                <a:cs typeface="Calibri"/>
              </a:rPr>
              <a:t>	:</a:t>
            </a:r>
            <a:r>
              <a:rPr dirty="0" sz="2400" spc="-55" i="1">
                <a:latin typeface="Calibri"/>
                <a:cs typeface="Calibri"/>
              </a:rPr>
              <a:t> </a:t>
            </a:r>
            <a:r>
              <a:rPr dirty="0" sz="2400" spc="-20" i="1">
                <a:latin typeface="Calibri"/>
                <a:cs typeface="Calibri"/>
              </a:rPr>
              <a:t>KARAN</a:t>
            </a:r>
            <a:r>
              <a:rPr dirty="0" sz="2400" i="1">
                <a:latin typeface="Calibri"/>
                <a:cs typeface="Calibri"/>
              </a:rPr>
              <a:t>	</a:t>
            </a:r>
            <a:r>
              <a:rPr dirty="0" sz="2400" spc="-50" i="1">
                <a:latin typeface="Calibri"/>
                <a:cs typeface="Calibri"/>
              </a:rPr>
              <a:t>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5"/>
              </a:spcBef>
              <a:tabLst>
                <a:tab pos="3284854" algn="l"/>
              </a:tabLst>
            </a:pPr>
            <a:r>
              <a:rPr dirty="0" sz="2400" i="1">
                <a:latin typeface="Calibri"/>
                <a:cs typeface="Calibri"/>
              </a:rPr>
              <a:t>REGISTER</a:t>
            </a:r>
            <a:r>
              <a:rPr dirty="0" sz="2400" spc="-2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NO</a:t>
            </a:r>
            <a:r>
              <a:rPr dirty="0" sz="2400" spc="-6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AND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spc="-20" i="1">
                <a:latin typeface="Calibri"/>
                <a:cs typeface="Calibri"/>
              </a:rPr>
              <a:t>NMID</a:t>
            </a:r>
            <a:r>
              <a:rPr dirty="0" sz="2400" i="1">
                <a:latin typeface="Calibri"/>
                <a:cs typeface="Calibri"/>
              </a:rPr>
              <a:t>	:</a:t>
            </a:r>
            <a:r>
              <a:rPr dirty="0" sz="2400" spc="-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2422K1970&amp;</a:t>
            </a:r>
            <a:r>
              <a:rPr dirty="0" sz="2400" spc="-25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asbru3y2422K1970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0"/>
              </a:spcBef>
              <a:tabLst>
                <a:tab pos="1862455" algn="l"/>
              </a:tabLst>
            </a:pPr>
            <a:r>
              <a:rPr dirty="0" sz="2400" spc="-10" i="1">
                <a:latin typeface="Calibri"/>
                <a:cs typeface="Calibri"/>
              </a:rPr>
              <a:t>DEPARTMENT</a:t>
            </a:r>
            <a:r>
              <a:rPr dirty="0" sz="2400" i="1">
                <a:latin typeface="Calibri"/>
                <a:cs typeface="Calibri"/>
              </a:rPr>
              <a:t>	:</a:t>
            </a:r>
            <a:r>
              <a:rPr dirty="0" sz="2400" spc="-4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BSC(COMPUTER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SCIENCE)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30"/>
              </a:spcBef>
              <a:tabLst>
                <a:tab pos="6699250" algn="l"/>
              </a:tabLst>
            </a:pPr>
            <a:r>
              <a:rPr dirty="0" sz="2400" i="1">
                <a:latin typeface="Calibri"/>
                <a:cs typeface="Calibri"/>
              </a:rPr>
              <a:t>COLLEGE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:</a:t>
            </a:r>
            <a:r>
              <a:rPr dirty="0" sz="2400" spc="-9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COLLEGE/</a:t>
            </a:r>
            <a:r>
              <a:rPr dirty="0" sz="2400" spc="-8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UNIVERSITY</a:t>
            </a:r>
            <a:r>
              <a:rPr dirty="0" sz="2400" spc="-2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:</a:t>
            </a:r>
            <a:r>
              <a:rPr dirty="0" sz="2400" spc="-2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SRI</a:t>
            </a:r>
            <a:r>
              <a:rPr dirty="0" sz="2400" spc="-55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RAMALINGAM</a:t>
            </a:r>
            <a:r>
              <a:rPr dirty="0" sz="2400" i="1">
                <a:latin typeface="Calibri"/>
                <a:cs typeface="Calibri"/>
              </a:rPr>
              <a:t>	</a:t>
            </a:r>
            <a:r>
              <a:rPr dirty="0" sz="2400" spc="-10" i="1">
                <a:latin typeface="Calibri"/>
                <a:cs typeface="Calibri"/>
              </a:rPr>
              <a:t>SOWDAMBIGAI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4954270" algn="l"/>
              </a:tabLst>
            </a:pPr>
            <a:r>
              <a:rPr dirty="0" sz="2400" i="1">
                <a:latin typeface="Calibri"/>
                <a:cs typeface="Calibri"/>
              </a:rPr>
              <a:t>COLLEGE</a:t>
            </a:r>
            <a:r>
              <a:rPr dirty="0" sz="2400" spc="-1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OF</a:t>
            </a:r>
            <a:r>
              <a:rPr dirty="0" sz="2400" spc="-7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SCIENCE</a:t>
            </a:r>
            <a:r>
              <a:rPr dirty="0" sz="2400" spc="-7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AND</a:t>
            </a:r>
            <a:r>
              <a:rPr dirty="0" sz="2400" spc="-8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COMMERCE</a:t>
            </a:r>
            <a:r>
              <a:rPr dirty="0" sz="2400" i="1">
                <a:latin typeface="Calibri"/>
                <a:cs typeface="Calibri"/>
              </a:rPr>
              <a:t>	&amp;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spc="-35" i="1">
                <a:latin typeface="Calibri"/>
                <a:cs typeface="Calibri"/>
              </a:rPr>
              <a:t>BHARATHIYAR</a:t>
            </a:r>
            <a:r>
              <a:rPr dirty="0" sz="2400" spc="-2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UNIVERSITY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/>
              <a:t>PROJECT</a:t>
            </a:r>
            <a:r>
              <a:rPr dirty="0" sz="4250" spc="-185"/>
              <a:t> </a:t>
            </a:r>
            <a:r>
              <a:rPr dirty="0" sz="4250" spc="-10"/>
              <a:t>TITLE</a:t>
            </a:r>
            <a:endParaRPr sz="4250"/>
          </a:p>
        </p:txBody>
      </p:sp>
      <p:sp>
        <p:nvSpPr>
          <p:cNvPr id="3" name="object 3" descr=""/>
          <p:cNvSpPr txBox="1"/>
          <p:nvPr/>
        </p:nvSpPr>
        <p:spPr>
          <a:xfrm>
            <a:off x="1205864" y="2240597"/>
            <a:ext cx="7164705" cy="1364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750" i="1">
                <a:latin typeface="Calibri"/>
                <a:cs typeface="Calibri"/>
              </a:rPr>
              <a:t>Digital</a:t>
            </a:r>
            <a:r>
              <a:rPr dirty="0" sz="8750" spc="45" i="1">
                <a:latin typeface="Calibri"/>
                <a:cs typeface="Calibri"/>
              </a:rPr>
              <a:t> </a:t>
            </a:r>
            <a:r>
              <a:rPr dirty="0" sz="8750" spc="-10" i="1">
                <a:latin typeface="Calibri"/>
                <a:cs typeface="Calibri"/>
              </a:rPr>
              <a:t>portfolio</a:t>
            </a:r>
            <a:endParaRPr sz="875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875" y="6467475"/>
              <a:ext cx="76200" cy="1778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8573"/>
            <a:ext cx="12192000" cy="6829425"/>
          </a:xfrm>
          <a:custGeom>
            <a:avLst/>
            <a:gdLst/>
            <a:ahLst/>
            <a:cxnLst/>
            <a:rect l="l" t="t" r="r" b="b"/>
            <a:pathLst>
              <a:path w="12192000" h="6829425">
                <a:moveTo>
                  <a:pt x="12192000" y="0"/>
                </a:moveTo>
                <a:lnTo>
                  <a:pt x="0" y="0"/>
                </a:lnTo>
                <a:lnTo>
                  <a:pt x="0" y="6829426"/>
                </a:lnTo>
                <a:lnTo>
                  <a:pt x="12192000" y="682942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455055" y="0"/>
            <a:ext cx="4742180" cy="6863080"/>
            <a:chOff x="7455055" y="0"/>
            <a:chExt cx="4742180" cy="6863080"/>
          </a:xfrm>
        </p:grpSpPr>
        <p:sp>
          <p:nvSpPr>
            <p:cNvPr id="4" name="object 4" descr=""/>
            <p:cNvSpPr/>
            <p:nvPr/>
          </p:nvSpPr>
          <p:spPr>
            <a:xfrm>
              <a:off x="7459818" y="14350"/>
              <a:ext cx="4732655" cy="6844030"/>
            </a:xfrm>
            <a:custGeom>
              <a:avLst/>
              <a:gdLst/>
              <a:ahLst/>
              <a:cxnLst/>
              <a:rect l="l" t="t" r="r" b="b"/>
              <a:pathLst>
                <a:path w="4732655" h="6844030">
                  <a:moveTo>
                    <a:pt x="1927132" y="0"/>
                  </a:moveTo>
                  <a:lnTo>
                    <a:pt x="3135780" y="6843649"/>
                  </a:lnTo>
                </a:path>
                <a:path w="4732655" h="6844030">
                  <a:moveTo>
                    <a:pt x="4732181" y="3689307"/>
                  </a:moveTo>
                  <a:lnTo>
                    <a:pt x="0" y="6843649"/>
                  </a:lnTo>
                </a:path>
              </a:pathLst>
            </a:custGeom>
            <a:ln w="9525">
              <a:solidFill>
                <a:srgbClr val="5FC9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900" y="0"/>
                  </a:moveTo>
                  <a:lnTo>
                    <a:pt x="2044446" y="0"/>
                  </a:lnTo>
                  <a:lnTo>
                    <a:pt x="0" y="6857995"/>
                  </a:lnTo>
                  <a:lnTo>
                    <a:pt x="3009900" y="6857995"/>
                  </a:lnTo>
                  <a:lnTo>
                    <a:pt x="3009900" y="0"/>
                  </a:lnTo>
                  <a:close/>
                </a:path>
              </a:pathLst>
            </a:custGeom>
            <a:solidFill>
              <a:srgbClr val="5FC9ED">
                <a:alpha val="3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601200" y="0"/>
              <a:ext cx="2590800" cy="6858000"/>
            </a:xfrm>
            <a:custGeom>
              <a:avLst/>
              <a:gdLst/>
              <a:ahLst/>
              <a:cxnLst/>
              <a:rect l="l" t="t" r="r" b="b"/>
              <a:pathLst>
                <a:path w="2590800" h="6858000">
                  <a:moveTo>
                    <a:pt x="2590419" y="0"/>
                  </a:moveTo>
                  <a:lnTo>
                    <a:pt x="0" y="0"/>
                  </a:lnTo>
                  <a:lnTo>
                    <a:pt x="1209421" y="6857995"/>
                  </a:lnTo>
                  <a:lnTo>
                    <a:pt x="2590419" y="6857995"/>
                  </a:lnTo>
                  <a:lnTo>
                    <a:pt x="2590419" y="0"/>
                  </a:lnTo>
                  <a:close/>
                </a:path>
              </a:pathLst>
            </a:custGeom>
            <a:solidFill>
              <a:srgbClr val="5FC9E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EE2">
                <a:alpha val="6588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334500" y="0"/>
              <a:ext cx="2857500" cy="6858000"/>
            </a:xfrm>
            <a:custGeom>
              <a:avLst/>
              <a:gdLst/>
              <a:ahLst/>
              <a:cxnLst/>
              <a:rect l="l" t="t" r="r" b="b"/>
              <a:pathLst>
                <a:path w="2857500" h="6858000">
                  <a:moveTo>
                    <a:pt x="2857246" y="0"/>
                  </a:moveTo>
                  <a:lnTo>
                    <a:pt x="0" y="0"/>
                  </a:lnTo>
                  <a:lnTo>
                    <a:pt x="2472817" y="6857995"/>
                  </a:lnTo>
                  <a:lnTo>
                    <a:pt x="2857246" y="6857995"/>
                  </a:lnTo>
                  <a:lnTo>
                    <a:pt x="2857246" y="0"/>
                  </a:lnTo>
                  <a:close/>
                </a:path>
              </a:pathLst>
            </a:custGeom>
            <a:solidFill>
              <a:srgbClr val="17AEE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400" y="0"/>
                  </a:moveTo>
                  <a:lnTo>
                    <a:pt x="1022476" y="0"/>
                  </a:lnTo>
                  <a:lnTo>
                    <a:pt x="0" y="6857995"/>
                  </a:lnTo>
                  <a:lnTo>
                    <a:pt x="1295400" y="6857995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2C83C3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934700" y="0"/>
              <a:ext cx="1257300" cy="6858000"/>
            </a:xfrm>
            <a:custGeom>
              <a:avLst/>
              <a:gdLst/>
              <a:ahLst/>
              <a:cxnLst/>
              <a:rect l="l" t="t" r="r" b="b"/>
              <a:pathLst>
                <a:path w="1257300" h="6858000">
                  <a:moveTo>
                    <a:pt x="1257046" y="0"/>
                  </a:moveTo>
                  <a:lnTo>
                    <a:pt x="0" y="0"/>
                  </a:lnTo>
                  <a:lnTo>
                    <a:pt x="1115695" y="6857995"/>
                  </a:lnTo>
                  <a:lnTo>
                    <a:pt x="1257046" y="6857995"/>
                  </a:lnTo>
                  <a:lnTo>
                    <a:pt x="1257046" y="0"/>
                  </a:lnTo>
                  <a:close/>
                </a:path>
              </a:pathLst>
            </a:custGeom>
            <a:solidFill>
              <a:srgbClr val="216092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EE2">
                <a:alpha val="6588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9ED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53109" y="6493994"/>
            <a:ext cx="1764664" cy="166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80"/>
              </a:lnSpc>
            </a:pPr>
            <a:r>
              <a:rPr dirty="0" sz="1100">
                <a:solidFill>
                  <a:srgbClr val="2C83C3"/>
                </a:solidFill>
                <a:latin typeface="Trebuchet MS"/>
                <a:cs typeface="Trebuchet MS"/>
              </a:rPr>
              <a:t>3/21/2024</a:t>
            </a:r>
            <a:r>
              <a:rPr dirty="0" sz="1100" spc="150">
                <a:solidFill>
                  <a:srgbClr val="2C83C3"/>
                </a:solidFill>
                <a:latin typeface="Trebuchet MS"/>
                <a:cs typeface="Trebuchet MS"/>
              </a:rPr>
              <a:t>  </a:t>
            </a:r>
            <a:r>
              <a:rPr dirty="0" sz="1100" b="1">
                <a:solidFill>
                  <a:srgbClr val="2C83C3"/>
                </a:solidFill>
                <a:latin typeface="Trebuchet MS"/>
                <a:cs typeface="Trebuchet MS"/>
              </a:rPr>
              <a:t>Annual</a:t>
            </a:r>
            <a:r>
              <a:rPr dirty="0" sz="1100" spc="-95" b="1">
                <a:solidFill>
                  <a:srgbClr val="2C83C3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2C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42" y="6476"/>
                </a:lnTo>
                <a:lnTo>
                  <a:pt x="89661" y="24764"/>
                </a:lnTo>
                <a:lnTo>
                  <a:pt x="52958" y="52959"/>
                </a:lnTo>
                <a:lnTo>
                  <a:pt x="24765" y="89662"/>
                </a:lnTo>
                <a:lnTo>
                  <a:pt x="6476" y="132841"/>
                </a:lnTo>
                <a:lnTo>
                  <a:pt x="0" y="180975"/>
                </a:lnTo>
                <a:lnTo>
                  <a:pt x="6476" y="229108"/>
                </a:lnTo>
                <a:lnTo>
                  <a:pt x="24765" y="272288"/>
                </a:lnTo>
                <a:lnTo>
                  <a:pt x="52958" y="308990"/>
                </a:lnTo>
                <a:lnTo>
                  <a:pt x="89661" y="337185"/>
                </a:lnTo>
                <a:lnTo>
                  <a:pt x="132842" y="355473"/>
                </a:lnTo>
                <a:lnTo>
                  <a:pt x="180975" y="361950"/>
                </a:lnTo>
                <a:lnTo>
                  <a:pt x="229107" y="355473"/>
                </a:lnTo>
                <a:lnTo>
                  <a:pt x="272288" y="337185"/>
                </a:lnTo>
                <a:lnTo>
                  <a:pt x="308991" y="308990"/>
                </a:lnTo>
                <a:lnTo>
                  <a:pt x="337184" y="272288"/>
                </a:lnTo>
                <a:lnTo>
                  <a:pt x="355473" y="229108"/>
                </a:lnTo>
                <a:lnTo>
                  <a:pt x="361950" y="180975"/>
                </a:lnTo>
                <a:lnTo>
                  <a:pt x="355473" y="132841"/>
                </a:lnTo>
                <a:lnTo>
                  <a:pt x="337184" y="89662"/>
                </a:lnTo>
                <a:lnTo>
                  <a:pt x="308991" y="52959"/>
                </a:lnTo>
                <a:lnTo>
                  <a:pt x="272288" y="24764"/>
                </a:lnTo>
                <a:lnTo>
                  <a:pt x="229107" y="6476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5971" y="3505"/>
                </a:lnTo>
                <a:lnTo>
                  <a:pt x="230377" y="13715"/>
                </a:lnTo>
                <a:lnTo>
                  <a:pt x="187325" y="30099"/>
                </a:lnTo>
                <a:lnTo>
                  <a:pt x="147574" y="52171"/>
                </a:lnTo>
                <a:lnTo>
                  <a:pt x="111378" y="79438"/>
                </a:lnTo>
                <a:lnTo>
                  <a:pt x="79501" y="111378"/>
                </a:lnTo>
                <a:lnTo>
                  <a:pt x="52197" y="147510"/>
                </a:lnTo>
                <a:lnTo>
                  <a:pt x="30099" y="187325"/>
                </a:lnTo>
                <a:lnTo>
                  <a:pt x="13716" y="230314"/>
                </a:lnTo>
                <a:lnTo>
                  <a:pt x="3555" y="275996"/>
                </a:lnTo>
                <a:lnTo>
                  <a:pt x="0" y="323850"/>
                </a:lnTo>
                <a:lnTo>
                  <a:pt x="3555" y="371703"/>
                </a:lnTo>
                <a:lnTo>
                  <a:pt x="13716" y="417385"/>
                </a:lnTo>
                <a:lnTo>
                  <a:pt x="30099" y="460375"/>
                </a:lnTo>
                <a:lnTo>
                  <a:pt x="52197" y="500189"/>
                </a:lnTo>
                <a:lnTo>
                  <a:pt x="79501" y="536321"/>
                </a:lnTo>
                <a:lnTo>
                  <a:pt x="111378" y="568261"/>
                </a:lnTo>
                <a:lnTo>
                  <a:pt x="147574" y="595528"/>
                </a:lnTo>
                <a:lnTo>
                  <a:pt x="187325" y="617601"/>
                </a:lnTo>
                <a:lnTo>
                  <a:pt x="230377" y="633984"/>
                </a:lnTo>
                <a:lnTo>
                  <a:pt x="275971" y="644182"/>
                </a:lnTo>
                <a:lnTo>
                  <a:pt x="323850" y="647700"/>
                </a:lnTo>
                <a:lnTo>
                  <a:pt x="371728" y="644182"/>
                </a:lnTo>
                <a:lnTo>
                  <a:pt x="417322" y="633984"/>
                </a:lnTo>
                <a:lnTo>
                  <a:pt x="460375" y="617601"/>
                </a:lnTo>
                <a:lnTo>
                  <a:pt x="500125" y="595528"/>
                </a:lnTo>
                <a:lnTo>
                  <a:pt x="536321" y="568261"/>
                </a:lnTo>
                <a:lnTo>
                  <a:pt x="568198" y="536321"/>
                </a:lnTo>
                <a:lnTo>
                  <a:pt x="595502" y="500189"/>
                </a:lnTo>
                <a:lnTo>
                  <a:pt x="617601" y="460375"/>
                </a:lnTo>
                <a:lnTo>
                  <a:pt x="633983" y="417385"/>
                </a:lnTo>
                <a:lnTo>
                  <a:pt x="644144" y="371703"/>
                </a:lnTo>
                <a:lnTo>
                  <a:pt x="647700" y="323850"/>
                </a:lnTo>
                <a:lnTo>
                  <a:pt x="644144" y="275996"/>
                </a:lnTo>
                <a:lnTo>
                  <a:pt x="633983" y="230314"/>
                </a:lnTo>
                <a:lnTo>
                  <a:pt x="617601" y="187325"/>
                </a:lnTo>
                <a:lnTo>
                  <a:pt x="595502" y="147510"/>
                </a:lnTo>
                <a:lnTo>
                  <a:pt x="568198" y="111378"/>
                </a:lnTo>
                <a:lnTo>
                  <a:pt x="536321" y="79438"/>
                </a:lnTo>
                <a:lnTo>
                  <a:pt x="500125" y="52171"/>
                </a:lnTo>
                <a:lnTo>
                  <a:pt x="460375" y="30099"/>
                </a:lnTo>
                <a:lnTo>
                  <a:pt x="417322" y="13715"/>
                </a:lnTo>
                <a:lnTo>
                  <a:pt x="371728" y="3505"/>
                </a:lnTo>
                <a:lnTo>
                  <a:pt x="323850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90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7797" rIns="0" bIns="0" rtlCol="0" vert="horz">
            <a:spAutoFit/>
          </a:bodyPr>
          <a:lstStyle/>
          <a:p>
            <a:pPr marL="1943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AGENDA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1" name="object 21" descr=""/>
          <p:cNvSpPr txBox="1"/>
          <p:nvPr/>
        </p:nvSpPr>
        <p:spPr>
          <a:xfrm>
            <a:off x="2590419" y="1496123"/>
            <a:ext cx="4265930" cy="38633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25"/>
              </a:spcBef>
              <a:buSzPct val="96363"/>
              <a:buAutoNum type="arabicPeriod"/>
              <a:tabLst>
                <a:tab pos="278765" algn="l"/>
              </a:tabLst>
            </a:pP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Problem</a:t>
            </a:r>
            <a:r>
              <a:rPr dirty="0" sz="2750" spc="1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0D0D0D"/>
                </a:solidFill>
                <a:latin typeface="Times New Roman"/>
                <a:cs typeface="Times New Roman"/>
              </a:rPr>
              <a:t>Statement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9400" algn="l"/>
              </a:tabLst>
            </a:pP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Project</a:t>
            </a:r>
            <a:r>
              <a:rPr dirty="0" sz="2750" spc="8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0D0D0D"/>
                </a:solidFill>
                <a:latin typeface="Times New Roman"/>
                <a:cs typeface="Times New Roman"/>
              </a:rPr>
              <a:t>Overview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5"/>
              </a:spcBef>
              <a:buSzPct val="96363"/>
              <a:buAutoNum type="arabicPeriod"/>
              <a:tabLst>
                <a:tab pos="279400" algn="l"/>
              </a:tabLst>
            </a:pP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End</a:t>
            </a:r>
            <a:r>
              <a:rPr dirty="0" sz="2750" spc="1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 spc="-20">
                <a:solidFill>
                  <a:srgbClr val="0D0D0D"/>
                </a:solidFill>
                <a:latin typeface="Times New Roman"/>
                <a:cs typeface="Times New Roman"/>
              </a:rPr>
              <a:t>Users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9400" algn="l"/>
              </a:tabLst>
            </a:pP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Tools</a:t>
            </a:r>
            <a:r>
              <a:rPr dirty="0" sz="275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2750" spc="-1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0D0D0D"/>
                </a:solidFill>
                <a:latin typeface="Times New Roman"/>
                <a:cs typeface="Times New Roman"/>
              </a:rPr>
              <a:t>Technologies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9400" algn="l"/>
              </a:tabLst>
            </a:pP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Portfolio</a:t>
            </a:r>
            <a:r>
              <a:rPr dirty="0" sz="2750" spc="9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design</a:t>
            </a:r>
            <a:r>
              <a:rPr dirty="0" sz="2750" spc="1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2750" spc="1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0D0D0D"/>
                </a:solidFill>
                <a:latin typeface="Times New Roman"/>
                <a:cs typeface="Times New Roman"/>
              </a:rPr>
              <a:t>Layout</a:t>
            </a:r>
            <a:endParaRPr sz="275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8765" algn="l"/>
              </a:tabLst>
            </a:pP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Features</a:t>
            </a:r>
            <a:r>
              <a:rPr dirty="0" sz="2750" spc="7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2750" spc="7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0D0D0D"/>
                </a:solidFill>
                <a:latin typeface="Times New Roman"/>
                <a:cs typeface="Times New Roman"/>
              </a:rPr>
              <a:t>Functionality</a:t>
            </a:r>
            <a:endParaRPr sz="275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8765" algn="l"/>
              </a:tabLst>
            </a:pP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Results</a:t>
            </a:r>
            <a:r>
              <a:rPr dirty="0" sz="2750" spc="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2750" spc="8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0D0D0D"/>
                </a:solidFill>
                <a:latin typeface="Times New Roman"/>
                <a:cs typeface="Times New Roman"/>
              </a:rPr>
              <a:t>Screenshots</a:t>
            </a:r>
            <a:endParaRPr sz="275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"/>
              </a:spcBef>
              <a:buSzPct val="96363"/>
              <a:buAutoNum type="arabicPeriod"/>
              <a:tabLst>
                <a:tab pos="278765" algn="l"/>
              </a:tabLst>
            </a:pPr>
            <a:r>
              <a:rPr dirty="0" sz="2750" spc="-10">
                <a:solidFill>
                  <a:srgbClr val="0D0D0D"/>
                </a:solidFill>
                <a:latin typeface="Times New Roman"/>
                <a:cs typeface="Times New Roman"/>
              </a:rPr>
              <a:t>Conclusion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75"/>
              </a:spcBef>
              <a:buSzPct val="96363"/>
              <a:buAutoNum type="arabicPeriod"/>
              <a:tabLst>
                <a:tab pos="279400" algn="l"/>
              </a:tabLst>
            </a:pPr>
            <a:r>
              <a:rPr dirty="0" sz="2750">
                <a:solidFill>
                  <a:srgbClr val="0D0D0D"/>
                </a:solidFill>
                <a:latin typeface="Times New Roman"/>
                <a:cs typeface="Times New Roman"/>
              </a:rPr>
              <a:t>Github</a:t>
            </a:r>
            <a:r>
              <a:rPr dirty="0" sz="2750" spc="1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750" spc="-20">
                <a:solidFill>
                  <a:srgbClr val="0D0D0D"/>
                </a:solidFill>
                <a:latin typeface="Times New Roman"/>
                <a:cs typeface="Times New Roman"/>
              </a:rPr>
              <a:t>Link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4" name="object 4" descr="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C92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967" y="370840"/>
            <a:ext cx="5634355" cy="6781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9865" algn="l"/>
              </a:tabLst>
            </a:pPr>
            <a:r>
              <a:rPr dirty="0" sz="4250" spc="-10"/>
              <a:t>PROBLEM</a:t>
            </a:r>
            <a:r>
              <a:rPr dirty="0" sz="4250"/>
              <a:t>	</a:t>
            </a:r>
            <a:r>
              <a:rPr dirty="0" sz="4250" spc="-80"/>
              <a:t>STATEMENT</a:t>
            </a:r>
            <a:endParaRPr sz="4250"/>
          </a:p>
        </p:txBody>
      </p:sp>
      <p:sp>
        <p:nvSpPr>
          <p:cNvPr id="8" name="object 8" descr=""/>
          <p:cNvSpPr txBox="1"/>
          <p:nvPr/>
        </p:nvSpPr>
        <p:spPr>
          <a:xfrm>
            <a:off x="597534" y="1836991"/>
            <a:ext cx="7760334" cy="3997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351790" marR="5080" indent="-33909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i="1">
                <a:latin typeface="Calibri"/>
                <a:cs typeface="Calibri"/>
              </a:rPr>
              <a:t>"Design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9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visually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stunning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editorial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portrait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that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showcases</a:t>
            </a:r>
            <a:r>
              <a:rPr dirty="0" sz="2000" spc="-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confident </a:t>
            </a:r>
            <a:r>
              <a:rPr dirty="0" sz="2000" spc="-10" i="1">
                <a:latin typeface="Calibri"/>
                <a:cs typeface="Calibri"/>
              </a:rPr>
              <a:t>	</a:t>
            </a:r>
            <a:r>
              <a:rPr dirty="0" sz="2000" i="1">
                <a:latin typeface="Calibri"/>
                <a:cs typeface="Calibri"/>
              </a:rPr>
              <a:t>Asian</a:t>
            </a:r>
            <a:r>
              <a:rPr dirty="0" sz="2000" spc="-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man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 a</a:t>
            </a:r>
            <a:r>
              <a:rPr dirty="0" sz="2000" spc="-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stylish,</a:t>
            </a:r>
            <a:r>
              <a:rPr dirty="0" sz="2000" spc="5" i="1">
                <a:latin typeface="Calibri"/>
                <a:cs typeface="Calibri"/>
              </a:rPr>
              <a:t> </a:t>
            </a:r>
            <a:r>
              <a:rPr dirty="0" sz="2000" spc="-20" i="1">
                <a:latin typeface="Calibri"/>
                <a:cs typeface="Calibri"/>
              </a:rPr>
              <a:t>high-</a:t>
            </a:r>
            <a:r>
              <a:rPr dirty="0" sz="2000" i="1">
                <a:latin typeface="Calibri"/>
                <a:cs typeface="Calibri"/>
              </a:rPr>
              <a:t>fashion</a:t>
            </a:r>
            <a:r>
              <a:rPr dirty="0" sz="2000" spc="-7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setting,</a:t>
            </a:r>
            <a:r>
              <a:rPr dirty="0" sz="2000" spc="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incorporating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specific</a:t>
            </a:r>
            <a:r>
              <a:rPr dirty="0" sz="2000" spc="4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attire </a:t>
            </a:r>
            <a:r>
              <a:rPr dirty="0" sz="2000" spc="-10" i="1">
                <a:latin typeface="Calibri"/>
                <a:cs typeface="Calibri"/>
              </a:rPr>
              <a:t>	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props while</a:t>
            </a:r>
            <a:r>
              <a:rPr dirty="0" sz="2000" spc="-9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conveying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modern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elegance.</a:t>
            </a:r>
            <a:endParaRPr sz="2000">
              <a:latin typeface="Calibri"/>
              <a:cs typeface="Calibri"/>
            </a:endParaRPr>
          </a:p>
          <a:p>
            <a:pPr marL="355600" marR="107950" indent="-342900">
              <a:lnSpc>
                <a:spcPct val="100000"/>
              </a:lnSpc>
              <a:spcBef>
                <a:spcPts val="2415"/>
              </a:spcBef>
              <a:buChar char="•"/>
              <a:tabLst>
                <a:tab pos="355600" algn="l"/>
                <a:tab pos="412115" algn="l"/>
              </a:tabLst>
            </a:pP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i="1">
                <a:latin typeface="Calibri"/>
                <a:cs typeface="Calibri"/>
              </a:rPr>
              <a:t>"Create</a:t>
            </a:r>
            <a:r>
              <a:rPr dirty="0" sz="2000" spc="-1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10" i="1">
                <a:latin typeface="Calibri"/>
                <a:cs typeface="Calibri"/>
              </a:rPr>
              <a:t> captivating</a:t>
            </a:r>
            <a:r>
              <a:rPr dirty="0" sz="2000" spc="-7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image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that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combines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fashion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sophistication, </a:t>
            </a:r>
            <a:r>
              <a:rPr dirty="0" sz="2000" i="1">
                <a:latin typeface="Calibri"/>
                <a:cs typeface="Calibri"/>
              </a:rPr>
              <a:t>featuring a </a:t>
            </a:r>
            <a:r>
              <a:rPr dirty="0" sz="2000" spc="-10" i="1">
                <a:latin typeface="Calibri"/>
                <a:cs typeface="Calibri"/>
              </a:rPr>
              <a:t>confident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Asian man</a:t>
            </a:r>
            <a:r>
              <a:rPr dirty="0" sz="2000" spc="-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seated</a:t>
            </a:r>
            <a:r>
              <a:rPr dirty="0" sz="2000" spc="-7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on a</a:t>
            </a:r>
            <a:r>
              <a:rPr dirty="0" sz="2000" spc="-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bold</a:t>
            </a:r>
            <a:r>
              <a:rPr dirty="0" sz="2000" spc="-7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red</a:t>
            </a:r>
            <a:r>
              <a:rPr dirty="0" sz="2000" spc="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chair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against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spc="-50" i="1">
                <a:latin typeface="Calibri"/>
                <a:cs typeface="Calibri"/>
              </a:rPr>
              <a:t>a </a:t>
            </a:r>
            <a:r>
              <a:rPr dirty="0" sz="2000" i="1">
                <a:latin typeface="Calibri"/>
                <a:cs typeface="Calibri"/>
              </a:rPr>
              <a:t>minimalist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brown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backdrop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with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subtle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typography,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highlighting</a:t>
            </a:r>
            <a:r>
              <a:rPr dirty="0" sz="2000" spc="-100" i="1">
                <a:latin typeface="Calibri"/>
                <a:cs typeface="Calibri"/>
              </a:rPr>
              <a:t> </a:t>
            </a:r>
            <a:r>
              <a:rPr dirty="0" sz="2000" spc="-25" i="1">
                <a:latin typeface="Calibri"/>
                <a:cs typeface="Calibri"/>
              </a:rPr>
              <a:t>his </a:t>
            </a:r>
            <a:r>
              <a:rPr dirty="0" sz="2000" i="1">
                <a:latin typeface="Calibri"/>
                <a:cs typeface="Calibri"/>
              </a:rPr>
              <a:t>stylish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ensemble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accessories.</a:t>
            </a:r>
            <a:endParaRPr sz="2000">
              <a:latin typeface="Calibri"/>
              <a:cs typeface="Calibri"/>
            </a:endParaRPr>
          </a:p>
          <a:p>
            <a:pPr marL="355600" marR="131445" indent="-342900">
              <a:lnSpc>
                <a:spcPct val="100000"/>
              </a:lnSpc>
              <a:spcBef>
                <a:spcPts val="24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i="1">
                <a:latin typeface="Calibri"/>
                <a:cs typeface="Calibri"/>
              </a:rPr>
              <a:t>"Develop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10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high-</a:t>
            </a:r>
            <a:r>
              <a:rPr dirty="0" sz="2000" i="1">
                <a:latin typeface="Calibri"/>
                <a:cs typeface="Calibri"/>
              </a:rPr>
              <a:t>end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editorial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portrait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that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captures the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essence</a:t>
            </a:r>
            <a:r>
              <a:rPr dirty="0" sz="2000" spc="-85" i="1">
                <a:latin typeface="Calibri"/>
                <a:cs typeface="Calibri"/>
              </a:rPr>
              <a:t> </a:t>
            </a:r>
            <a:r>
              <a:rPr dirty="0" sz="2000" spc="-25" i="1">
                <a:latin typeface="Calibri"/>
                <a:cs typeface="Calibri"/>
              </a:rPr>
              <a:t>of </a:t>
            </a:r>
            <a:r>
              <a:rPr dirty="0" sz="2000" i="1">
                <a:latin typeface="Calibri"/>
                <a:cs typeface="Calibri"/>
              </a:rPr>
              <a:t>modern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style</a:t>
            </a:r>
            <a:r>
              <a:rPr dirty="0" sz="2000" spc="-9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-9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sophistication,</a:t>
            </a:r>
            <a:r>
              <a:rPr dirty="0" sz="2000" spc="-8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featuring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confident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Asian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spc="-25" i="1">
                <a:latin typeface="Calibri"/>
                <a:cs typeface="Calibri"/>
              </a:rPr>
              <a:t>man </a:t>
            </a:r>
            <a:r>
              <a:rPr dirty="0" sz="2000" i="1">
                <a:latin typeface="Calibri"/>
                <a:cs typeface="Calibri"/>
              </a:rPr>
              <a:t>dressed</a:t>
            </a:r>
            <a:r>
              <a:rPr dirty="0" sz="2000" spc="1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</a:t>
            </a:r>
            <a:r>
              <a:rPr dirty="0" sz="2000" spc="-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1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brown</a:t>
            </a:r>
            <a:r>
              <a:rPr dirty="0" sz="2000" spc="-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checkered</a:t>
            </a:r>
            <a:r>
              <a:rPr dirty="0" sz="2000" spc="-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blazer,</a:t>
            </a:r>
            <a:r>
              <a:rPr dirty="0" sz="2000" spc="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white</a:t>
            </a:r>
            <a:r>
              <a:rPr dirty="0" sz="2000" spc="-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shirt,</a:t>
            </a:r>
            <a:r>
              <a:rPr dirty="0" sz="2000" spc="-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-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tailored</a:t>
            </a:r>
            <a:r>
              <a:rPr dirty="0" sz="2000" spc="-7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trousers, </a:t>
            </a:r>
            <a:r>
              <a:rPr dirty="0" sz="2000" i="1">
                <a:latin typeface="Calibri"/>
                <a:cs typeface="Calibri"/>
              </a:rPr>
              <a:t>accessorized</a:t>
            </a:r>
            <a:r>
              <a:rPr dirty="0" sz="2000" spc="-10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with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round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sunglasses</a:t>
            </a:r>
            <a:r>
              <a:rPr dirty="0" sz="2000" spc="-1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10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smartwatch.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4" name="object 4" descr="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C92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967" y="370840"/>
            <a:ext cx="5264150" cy="6781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4140" algn="l"/>
              </a:tabLst>
            </a:pPr>
            <a:r>
              <a:rPr dirty="0" sz="4250" spc="-10"/>
              <a:t>PROJECT</a:t>
            </a:r>
            <a:r>
              <a:rPr dirty="0" sz="4250"/>
              <a:t>	</a:t>
            </a:r>
            <a:r>
              <a:rPr dirty="0" sz="4250" spc="-10"/>
              <a:t>OVERVIEW</a:t>
            </a:r>
            <a:endParaRPr sz="4250"/>
          </a:p>
        </p:txBody>
      </p:sp>
      <p:sp>
        <p:nvSpPr>
          <p:cNvPr id="8" name="object 8" descr=""/>
          <p:cNvSpPr txBox="1"/>
          <p:nvPr/>
        </p:nvSpPr>
        <p:spPr>
          <a:xfrm>
            <a:off x="11387455" y="6466840"/>
            <a:ext cx="10096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0">
                <a:solidFill>
                  <a:srgbClr val="2C926B"/>
                </a:solidFill>
                <a:latin typeface="Trebuchet MS"/>
                <a:cs typeface="Trebuchet MS"/>
              </a:rPr>
              <a:t>5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97534" y="1113472"/>
            <a:ext cx="7639050" cy="853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Calibri"/>
                <a:cs typeface="Calibri"/>
              </a:rPr>
              <a:t>Digital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Portfolio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  <a:p>
            <a:pPr marL="12700" marR="5080" indent="1939289">
              <a:lnSpc>
                <a:spcPct val="100800"/>
              </a:lnSpc>
            </a:pPr>
            <a:r>
              <a:rPr dirty="0" sz="1800" i="1">
                <a:latin typeface="Calibri"/>
                <a:cs typeface="Calibri"/>
              </a:rPr>
              <a:t>Goal: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Create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professional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online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presence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showcasing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skills, </a:t>
            </a:r>
            <a:r>
              <a:rPr dirty="0" sz="1800" i="1">
                <a:latin typeface="Calibri"/>
                <a:cs typeface="Calibri"/>
              </a:rPr>
              <a:t>experience,</a:t>
            </a:r>
            <a:r>
              <a:rPr dirty="0" sz="1800" spc="-6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and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accomplishments.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7534" y="2220023"/>
            <a:ext cx="5003800" cy="442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spc="-10" i="1">
                <a:latin typeface="Calibri"/>
                <a:cs typeface="Calibri"/>
              </a:rPr>
              <a:t>Objectives:</a:t>
            </a:r>
            <a:endParaRPr sz="1800">
              <a:latin typeface="Calibri"/>
              <a:cs typeface="Calibri"/>
            </a:endParaRPr>
          </a:p>
          <a:p>
            <a:pPr marL="974725" indent="-228600">
              <a:lnSpc>
                <a:spcPts val="2130"/>
              </a:lnSpc>
              <a:buAutoNum type="arabicPeriod"/>
              <a:tabLst>
                <a:tab pos="974725" algn="l"/>
              </a:tabLst>
            </a:pPr>
            <a:r>
              <a:rPr dirty="0" sz="1800" i="1">
                <a:latin typeface="Calibri"/>
                <a:cs typeface="Calibri"/>
              </a:rPr>
              <a:t>Establish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online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presence</a:t>
            </a:r>
            <a:endParaRPr sz="1800">
              <a:latin typeface="Calibri"/>
              <a:cs typeface="Calibri"/>
            </a:endParaRPr>
          </a:p>
          <a:p>
            <a:pPr marL="974725" indent="-2286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974725" algn="l"/>
              </a:tabLst>
            </a:pPr>
            <a:r>
              <a:rPr dirty="0" sz="1800" i="1">
                <a:latin typeface="Calibri"/>
                <a:cs typeface="Calibri"/>
              </a:rPr>
              <a:t>Improve</a:t>
            </a:r>
            <a:r>
              <a:rPr dirty="0" sz="1800" spc="-70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visibility</a:t>
            </a:r>
            <a:endParaRPr sz="1800">
              <a:latin typeface="Calibri"/>
              <a:cs typeface="Calibri"/>
            </a:endParaRPr>
          </a:p>
          <a:p>
            <a:pPr marL="12700" marR="1918335" indent="962025">
              <a:lnSpc>
                <a:spcPct val="100800"/>
              </a:lnSpc>
              <a:buAutoNum type="arabicPeriod"/>
              <a:tabLst>
                <a:tab pos="974725" algn="l"/>
              </a:tabLst>
            </a:pPr>
            <a:r>
              <a:rPr dirty="0" sz="1800" i="1">
                <a:latin typeface="Calibri"/>
                <a:cs typeface="Calibri"/>
              </a:rPr>
              <a:t>Demonstrate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expertise </a:t>
            </a:r>
            <a:r>
              <a:rPr dirty="0" sz="1800" i="1">
                <a:latin typeface="Calibri"/>
                <a:cs typeface="Calibri"/>
              </a:rPr>
              <a:t>Target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Audience</a:t>
            </a:r>
            <a:endParaRPr sz="1800">
              <a:latin typeface="Calibri"/>
              <a:cs typeface="Calibri"/>
            </a:endParaRPr>
          </a:p>
          <a:p>
            <a:pPr marL="64769" marR="5080" indent="1048385">
              <a:lnSpc>
                <a:spcPts val="2100"/>
              </a:lnSpc>
              <a:spcBef>
                <a:spcPts val="140"/>
              </a:spcBef>
            </a:pPr>
            <a:r>
              <a:rPr dirty="0" sz="1800" i="1">
                <a:latin typeface="Calibri"/>
                <a:cs typeface="Calibri"/>
              </a:rPr>
              <a:t>Potential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employers,</a:t>
            </a:r>
            <a:r>
              <a:rPr dirty="0" sz="1800" spc="-7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clients,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collaborators </a:t>
            </a:r>
            <a:r>
              <a:rPr dirty="0" sz="1800" i="1">
                <a:latin typeface="Calibri"/>
                <a:cs typeface="Calibri"/>
              </a:rPr>
              <a:t>Key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Features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spc="-50" i="1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1127760" indent="-276225">
              <a:lnSpc>
                <a:spcPts val="2120"/>
              </a:lnSpc>
              <a:buAutoNum type="arabicPeriod"/>
              <a:tabLst>
                <a:tab pos="1127760" algn="l"/>
              </a:tabLst>
            </a:pPr>
            <a:r>
              <a:rPr dirty="0" sz="1800" i="1">
                <a:latin typeface="Calibri"/>
                <a:cs typeface="Calibri"/>
              </a:rPr>
              <a:t>Home </a:t>
            </a:r>
            <a:r>
              <a:rPr dirty="0" sz="1800" spc="-20" i="1"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  <a:p>
            <a:pPr lvl="1" marL="1080135" indent="-22860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1080135" algn="l"/>
              </a:tabLst>
            </a:pPr>
            <a:r>
              <a:rPr dirty="0" sz="1800" i="1">
                <a:latin typeface="Calibri"/>
                <a:cs typeface="Calibri"/>
              </a:rPr>
              <a:t>About</a:t>
            </a:r>
            <a:r>
              <a:rPr dirty="0" sz="1800" spc="-60" i="1">
                <a:latin typeface="Calibri"/>
                <a:cs typeface="Calibri"/>
              </a:rPr>
              <a:t> </a:t>
            </a:r>
            <a:r>
              <a:rPr dirty="0" sz="1800" spc="-20" i="1"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  <a:p>
            <a:pPr lvl="1" marL="1127760" indent="-27622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1127760" algn="l"/>
              </a:tabLst>
            </a:pPr>
            <a:r>
              <a:rPr dirty="0" sz="1800" i="1">
                <a:latin typeface="Calibri"/>
                <a:cs typeface="Calibri"/>
              </a:rPr>
              <a:t>Work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samples</a:t>
            </a:r>
            <a:endParaRPr sz="1800">
              <a:latin typeface="Calibri"/>
              <a:cs typeface="Calibri"/>
            </a:endParaRPr>
          </a:p>
          <a:p>
            <a:pPr lvl="1" marL="1127760" indent="-276225">
              <a:lnSpc>
                <a:spcPts val="2130"/>
              </a:lnSpc>
              <a:spcBef>
                <a:spcPts val="20"/>
              </a:spcBef>
              <a:buAutoNum type="arabicPeriod"/>
              <a:tabLst>
                <a:tab pos="1127760" algn="l"/>
              </a:tabLst>
            </a:pPr>
            <a:r>
              <a:rPr dirty="0" sz="1800" i="1">
                <a:latin typeface="Calibri"/>
                <a:cs typeface="Calibri"/>
              </a:rPr>
              <a:t>Skills and </a:t>
            </a:r>
            <a:r>
              <a:rPr dirty="0" sz="1800" spc="-10" i="1">
                <a:latin typeface="Calibri"/>
                <a:cs typeface="Calibri"/>
              </a:rPr>
              <a:t>expertise</a:t>
            </a:r>
            <a:endParaRPr sz="1800">
              <a:latin typeface="Calibri"/>
              <a:cs typeface="Calibri"/>
            </a:endParaRPr>
          </a:p>
          <a:p>
            <a:pPr lvl="1" marL="12700" marR="2047239" indent="1067435">
              <a:lnSpc>
                <a:spcPts val="2180"/>
              </a:lnSpc>
              <a:spcBef>
                <a:spcPts val="30"/>
              </a:spcBef>
              <a:buAutoNum type="arabicPeriod"/>
              <a:tabLst>
                <a:tab pos="1080135" algn="l"/>
              </a:tabLst>
            </a:pPr>
            <a:r>
              <a:rPr dirty="0" sz="1800" i="1">
                <a:latin typeface="Calibri"/>
                <a:cs typeface="Calibri"/>
              </a:rPr>
              <a:t>Contact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information Timeline:</a:t>
            </a:r>
            <a:endParaRPr sz="1800">
              <a:latin typeface="Calibri"/>
              <a:cs typeface="Calibri"/>
            </a:endParaRPr>
          </a:p>
          <a:p>
            <a:pPr marL="974725" indent="-228600">
              <a:lnSpc>
                <a:spcPts val="2100"/>
              </a:lnSpc>
              <a:buAutoNum type="arabicPeriod"/>
              <a:tabLst>
                <a:tab pos="974725" algn="l"/>
              </a:tabLst>
            </a:pPr>
            <a:r>
              <a:rPr dirty="0" sz="1800" i="1">
                <a:latin typeface="Calibri"/>
                <a:cs typeface="Calibri"/>
              </a:rPr>
              <a:t>Research</a:t>
            </a:r>
            <a:r>
              <a:rPr dirty="0" sz="1800" spc="-5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and</a:t>
            </a:r>
            <a:r>
              <a:rPr dirty="0" sz="1800" spc="1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planning</a:t>
            </a:r>
            <a:endParaRPr sz="1800">
              <a:latin typeface="Calibri"/>
              <a:cs typeface="Calibri"/>
            </a:endParaRPr>
          </a:p>
          <a:p>
            <a:pPr marL="974725" indent="-22860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974725" algn="l"/>
              </a:tabLst>
            </a:pPr>
            <a:r>
              <a:rPr dirty="0" sz="1800" i="1">
                <a:latin typeface="Calibri"/>
                <a:cs typeface="Calibri"/>
              </a:rPr>
              <a:t>Design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and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development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753745" algn="l"/>
              </a:tabLst>
            </a:pPr>
            <a:r>
              <a:rPr dirty="0" sz="1800" spc="-50" i="1">
                <a:latin typeface="Calibri"/>
                <a:cs typeface="Calibri"/>
              </a:rPr>
              <a:t>.</a:t>
            </a:r>
            <a:r>
              <a:rPr dirty="0" sz="1800" i="1">
                <a:latin typeface="Calibri"/>
                <a:cs typeface="Calibri"/>
              </a:rPr>
              <a:t>	3.</a:t>
            </a:r>
            <a:r>
              <a:rPr dirty="0" sz="1800" spc="-5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Launch and </a:t>
            </a:r>
            <a:r>
              <a:rPr dirty="0" sz="1800" spc="-10" i="1">
                <a:latin typeface="Calibri"/>
                <a:cs typeface="Calibri"/>
              </a:rPr>
              <a:t>promotion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5967" y="370586"/>
            <a:ext cx="5010785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10"/>
              <a:t>WHO</a:t>
            </a:r>
            <a:r>
              <a:rPr dirty="0" sz="3200" spc="-240"/>
              <a:t> </a:t>
            </a:r>
            <a:r>
              <a:rPr dirty="0" sz="3200"/>
              <a:t>ARE</a:t>
            </a:r>
            <a:r>
              <a:rPr dirty="0" sz="3200" spc="-85"/>
              <a:t> </a:t>
            </a:r>
            <a:r>
              <a:rPr dirty="0" sz="3200"/>
              <a:t>THE</a:t>
            </a:r>
            <a:r>
              <a:rPr dirty="0" sz="3200" spc="-60"/>
              <a:t> </a:t>
            </a:r>
            <a:r>
              <a:rPr dirty="0" sz="3200"/>
              <a:t>END</a:t>
            </a:r>
            <a:r>
              <a:rPr dirty="0" sz="3200" spc="-70"/>
              <a:t> </a:t>
            </a:r>
            <a:r>
              <a:rPr dirty="0" sz="3200" spc="-10"/>
              <a:t>USERS?</a:t>
            </a:r>
            <a:endParaRPr sz="3200"/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31494" y="1113155"/>
            <a:ext cx="8914765" cy="4856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i="1">
                <a:latin typeface="Calibri"/>
                <a:cs typeface="Calibri"/>
              </a:rPr>
              <a:t>Potential</a:t>
            </a:r>
            <a:r>
              <a:rPr dirty="0" sz="2400" spc="-7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employers:</a:t>
            </a:r>
            <a:endParaRPr sz="2400">
              <a:latin typeface="Calibri"/>
              <a:cs typeface="Calibri"/>
            </a:endParaRPr>
          </a:p>
          <a:p>
            <a:pPr algn="ctr" marR="198755">
              <a:lnSpc>
                <a:spcPct val="100000"/>
              </a:lnSpc>
            </a:pPr>
            <a:r>
              <a:rPr dirty="0" sz="2000" i="1">
                <a:latin typeface="Calibri"/>
                <a:cs typeface="Calibri"/>
              </a:rPr>
              <a:t>Hiring</a:t>
            </a:r>
            <a:r>
              <a:rPr dirty="0" sz="2000" spc="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managers,</a:t>
            </a:r>
            <a:r>
              <a:rPr dirty="0" sz="2000" spc="-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recruiters,</a:t>
            </a:r>
            <a:r>
              <a:rPr dirty="0" sz="2000" spc="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or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HR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professionals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dirty="0" sz="2400" spc="-10" i="1">
                <a:latin typeface="Calibri"/>
                <a:cs typeface="Calibri"/>
              </a:rPr>
              <a:t>Clients</a:t>
            </a:r>
            <a:r>
              <a:rPr dirty="0" sz="2000" spc="-10" i="1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algn="ctr" marR="1050925">
              <a:lnSpc>
                <a:spcPct val="100000"/>
              </a:lnSpc>
              <a:spcBef>
                <a:spcPts val="75"/>
              </a:spcBef>
            </a:pPr>
            <a:r>
              <a:rPr dirty="0" sz="2000" i="1">
                <a:latin typeface="Calibri"/>
                <a:cs typeface="Calibri"/>
              </a:rPr>
              <a:t>Individuals</a:t>
            </a:r>
            <a:r>
              <a:rPr dirty="0" sz="2000" spc="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or</a:t>
            </a:r>
            <a:r>
              <a:rPr dirty="0" sz="2000" spc="2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businesses</a:t>
            </a:r>
            <a:r>
              <a:rPr dirty="0" sz="2000" spc="-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looking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for</a:t>
            </a:r>
            <a:r>
              <a:rPr dirty="0" sz="2000" spc="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services</a:t>
            </a:r>
            <a:r>
              <a:rPr dirty="0" sz="2000" spc="-6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or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expertise.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2380"/>
              </a:spcBef>
            </a:pPr>
            <a:r>
              <a:rPr dirty="0" sz="2400" spc="-10" i="1">
                <a:latin typeface="Calibri"/>
                <a:cs typeface="Calibri"/>
              </a:rPr>
              <a:t>Collaborators</a:t>
            </a:r>
            <a:r>
              <a:rPr dirty="0" sz="2000" spc="-10" i="1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algn="ctr" marR="1015365">
              <a:lnSpc>
                <a:spcPts val="2400"/>
              </a:lnSpc>
            </a:pPr>
            <a:r>
              <a:rPr dirty="0" sz="2000" i="1">
                <a:latin typeface="Calibri"/>
                <a:cs typeface="Calibri"/>
              </a:rPr>
              <a:t>Other </a:t>
            </a:r>
            <a:r>
              <a:rPr dirty="0" sz="2000" spc="-10" i="1">
                <a:latin typeface="Calibri"/>
                <a:cs typeface="Calibri"/>
              </a:rPr>
              <a:t>professionals,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partners,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or team</a:t>
            </a:r>
            <a:r>
              <a:rPr dirty="0" sz="2000" spc="-10" i="1">
                <a:latin typeface="Calibri"/>
                <a:cs typeface="Calibri"/>
              </a:rPr>
              <a:t> members.</a:t>
            </a:r>
            <a:endParaRPr sz="20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2385"/>
              </a:spcBef>
            </a:pPr>
            <a:r>
              <a:rPr dirty="0" sz="2400" i="1">
                <a:latin typeface="Calibri"/>
                <a:cs typeface="Calibri"/>
              </a:rPr>
              <a:t>These</a:t>
            </a:r>
            <a:r>
              <a:rPr dirty="0" sz="2400" spc="-4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users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want</a:t>
            </a:r>
            <a:r>
              <a:rPr dirty="0" sz="2400" spc="-65" i="1">
                <a:latin typeface="Calibri"/>
                <a:cs typeface="Calibri"/>
              </a:rPr>
              <a:t> </a:t>
            </a:r>
            <a:r>
              <a:rPr dirty="0" sz="2400" spc="-25" i="1">
                <a:latin typeface="Calibri"/>
                <a:cs typeface="Calibri"/>
              </a:rPr>
              <a:t>to:</a:t>
            </a:r>
            <a:endParaRPr sz="2400">
              <a:latin typeface="Calibri"/>
              <a:cs typeface="Calibri"/>
            </a:endParaRPr>
          </a:p>
          <a:p>
            <a:pPr marL="2203450" indent="-246379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2203450" algn="l"/>
              </a:tabLst>
            </a:pPr>
            <a:r>
              <a:rPr dirty="0" sz="2000" i="1">
                <a:latin typeface="Calibri"/>
                <a:cs typeface="Calibri"/>
              </a:rPr>
              <a:t>View</a:t>
            </a:r>
            <a:r>
              <a:rPr dirty="0" sz="2000" spc="-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work</a:t>
            </a:r>
            <a:r>
              <a:rPr dirty="0" sz="2000" spc="-6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samples: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Showcase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of</a:t>
            </a:r>
            <a:r>
              <a:rPr dirty="0" sz="2000" spc="-6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skills</a:t>
            </a:r>
            <a:r>
              <a:rPr dirty="0" sz="2000" spc="-1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experience.</a:t>
            </a:r>
            <a:endParaRPr sz="2000">
              <a:latin typeface="Calibri"/>
              <a:cs typeface="Calibri"/>
            </a:endParaRPr>
          </a:p>
          <a:p>
            <a:pPr marL="2146300" indent="-24637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146300" algn="l"/>
              </a:tabLst>
            </a:pPr>
            <a:r>
              <a:rPr dirty="0" sz="2000" i="1">
                <a:latin typeface="Calibri"/>
                <a:cs typeface="Calibri"/>
              </a:rPr>
              <a:t>Learn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about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expertise: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Understand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capabilities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-8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areas</a:t>
            </a:r>
            <a:r>
              <a:rPr dirty="0" sz="2000" spc="-60" i="1">
                <a:latin typeface="Calibri"/>
                <a:cs typeface="Calibri"/>
              </a:rPr>
              <a:t> </a:t>
            </a:r>
            <a:r>
              <a:rPr dirty="0" sz="2000" spc="-25" i="1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10" i="1">
                <a:latin typeface="Calibri"/>
                <a:cs typeface="Calibri"/>
              </a:rPr>
              <a:t>specialization.</a:t>
            </a:r>
            <a:endParaRPr sz="2000">
              <a:latin typeface="Calibri"/>
              <a:cs typeface="Calibri"/>
            </a:endParaRPr>
          </a:p>
          <a:p>
            <a:pPr marL="2146300" indent="-246379">
              <a:lnSpc>
                <a:spcPct val="100000"/>
              </a:lnSpc>
              <a:spcBef>
                <a:spcPts val="2405"/>
              </a:spcBef>
              <a:buAutoNum type="arabicPeriod" startAt="3"/>
              <a:tabLst>
                <a:tab pos="2146300" algn="l"/>
              </a:tabLst>
            </a:pPr>
            <a:r>
              <a:rPr dirty="0" sz="2000" i="1">
                <a:latin typeface="Calibri"/>
                <a:cs typeface="Calibri"/>
              </a:rPr>
              <a:t>Contact:</a:t>
            </a:r>
            <a:r>
              <a:rPr dirty="0" sz="2000" spc="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Get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touch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for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potential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opportunities</a:t>
            </a:r>
            <a:r>
              <a:rPr dirty="0" sz="2000" spc="-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or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collaborations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06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TOOLS</a:t>
            </a:r>
            <a:r>
              <a:rPr dirty="0" sz="3600" spc="-5"/>
              <a:t> </a:t>
            </a:r>
            <a:r>
              <a:rPr dirty="0" sz="3600"/>
              <a:t>AND</a:t>
            </a:r>
            <a:r>
              <a:rPr dirty="0" sz="3600" spc="45"/>
              <a:t> </a:t>
            </a:r>
            <a:r>
              <a:rPr dirty="0" sz="3600" spc="-10"/>
              <a:t>TECHNIQUES</a:t>
            </a:r>
            <a:endParaRPr sz="360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Tools</a:t>
            </a:r>
            <a:r>
              <a:rPr dirty="0" spc="-90"/>
              <a:t> </a:t>
            </a:r>
            <a:r>
              <a:rPr dirty="0" spc="-50"/>
              <a:t>:</a:t>
            </a:r>
          </a:p>
          <a:p>
            <a:pPr marL="817244" indent="-22860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817244" algn="l"/>
              </a:tabLst>
            </a:pPr>
            <a:r>
              <a:rPr dirty="0" sz="1800"/>
              <a:t>Google</a:t>
            </a:r>
            <a:r>
              <a:rPr dirty="0" sz="1800" spc="-45"/>
              <a:t> </a:t>
            </a:r>
            <a:r>
              <a:rPr dirty="0" sz="1800"/>
              <a:t>Drive:</a:t>
            </a:r>
            <a:r>
              <a:rPr dirty="0" sz="1800" spc="-35"/>
              <a:t> </a:t>
            </a:r>
            <a:r>
              <a:rPr dirty="0" sz="1800"/>
              <a:t>Store</a:t>
            </a:r>
            <a:r>
              <a:rPr dirty="0" sz="1800" spc="-40"/>
              <a:t> </a:t>
            </a:r>
            <a:r>
              <a:rPr dirty="0" sz="1800"/>
              <a:t>and</a:t>
            </a:r>
            <a:r>
              <a:rPr dirty="0" sz="1800" spc="-30"/>
              <a:t> </a:t>
            </a:r>
            <a:r>
              <a:rPr dirty="0" sz="1800"/>
              <a:t>organize</a:t>
            </a:r>
            <a:r>
              <a:rPr dirty="0" sz="1800" spc="-35"/>
              <a:t> </a:t>
            </a:r>
            <a:r>
              <a:rPr dirty="0" sz="1800"/>
              <a:t>artifacts</a:t>
            </a:r>
            <a:r>
              <a:rPr dirty="0" sz="1800" spc="-30"/>
              <a:t> </a:t>
            </a:r>
            <a:r>
              <a:rPr dirty="0" sz="1800"/>
              <a:t>in</a:t>
            </a:r>
            <a:r>
              <a:rPr dirty="0" sz="1800" spc="-25"/>
              <a:t> </a:t>
            </a:r>
            <a:r>
              <a:rPr dirty="0" sz="1800"/>
              <a:t>a</a:t>
            </a:r>
            <a:r>
              <a:rPr dirty="0" sz="1800" spc="-30"/>
              <a:t> </a:t>
            </a:r>
            <a:r>
              <a:rPr dirty="0" sz="1800"/>
              <a:t>shared</a:t>
            </a:r>
            <a:r>
              <a:rPr dirty="0" sz="1800" spc="-30"/>
              <a:t> </a:t>
            </a:r>
            <a:r>
              <a:rPr dirty="0" sz="1800" spc="-10"/>
              <a:t>folder.</a:t>
            </a:r>
            <a:endParaRPr sz="1800"/>
          </a:p>
          <a:p>
            <a:pPr marL="12700" marR="671830" indent="805180">
              <a:lnSpc>
                <a:spcPts val="2100"/>
              </a:lnSpc>
              <a:spcBef>
                <a:spcPts val="135"/>
              </a:spcBef>
              <a:buAutoNum type="arabicPeriod"/>
              <a:tabLst>
                <a:tab pos="817880" algn="l"/>
              </a:tabLst>
            </a:pPr>
            <a:r>
              <a:rPr dirty="0" sz="1800" spc="-20"/>
              <a:t>Website</a:t>
            </a:r>
            <a:r>
              <a:rPr dirty="0" sz="1800" spc="-40"/>
              <a:t> </a:t>
            </a:r>
            <a:r>
              <a:rPr dirty="0" sz="1800"/>
              <a:t>builders:</a:t>
            </a:r>
            <a:r>
              <a:rPr dirty="0" sz="1800" spc="20"/>
              <a:t> </a:t>
            </a:r>
            <a:r>
              <a:rPr dirty="0" sz="1800"/>
              <a:t>Wix,</a:t>
            </a:r>
            <a:r>
              <a:rPr dirty="0" sz="1800" spc="5"/>
              <a:t> </a:t>
            </a:r>
            <a:r>
              <a:rPr dirty="0" sz="1800"/>
              <a:t>Squarespace,</a:t>
            </a:r>
            <a:r>
              <a:rPr dirty="0" sz="1800" spc="5"/>
              <a:t> </a:t>
            </a:r>
            <a:r>
              <a:rPr dirty="0" sz="1800"/>
              <a:t>or</a:t>
            </a:r>
            <a:r>
              <a:rPr dirty="0" sz="1800" spc="-15"/>
              <a:t> </a:t>
            </a:r>
            <a:r>
              <a:rPr dirty="0" sz="1800" spc="-10"/>
              <a:t>WordPress</a:t>
            </a:r>
            <a:r>
              <a:rPr dirty="0" sz="1800" spc="-25"/>
              <a:t> </a:t>
            </a:r>
            <a:r>
              <a:rPr dirty="0" sz="1800"/>
              <a:t>for</a:t>
            </a:r>
            <a:r>
              <a:rPr dirty="0" sz="1800" spc="-80"/>
              <a:t> </a:t>
            </a:r>
            <a:r>
              <a:rPr dirty="0" sz="1800"/>
              <a:t>custom</a:t>
            </a:r>
            <a:r>
              <a:rPr dirty="0" sz="1800" spc="-65"/>
              <a:t> </a:t>
            </a:r>
            <a:r>
              <a:rPr dirty="0" sz="1800" spc="-10"/>
              <a:t>digital portfolios.</a:t>
            </a:r>
            <a:endParaRPr sz="1800"/>
          </a:p>
          <a:p>
            <a:pPr marL="12700" marR="119380" indent="857250">
              <a:lnSpc>
                <a:spcPts val="2180"/>
              </a:lnSpc>
              <a:spcBef>
                <a:spcPts val="20"/>
              </a:spcBef>
              <a:buAutoNum type="arabicPeriod"/>
              <a:tabLst>
                <a:tab pos="869950" algn="l"/>
              </a:tabLst>
            </a:pPr>
            <a:r>
              <a:rPr dirty="0" sz="1800"/>
              <a:t>Book</a:t>
            </a:r>
            <a:r>
              <a:rPr dirty="0" sz="1800" spc="20"/>
              <a:t> </a:t>
            </a:r>
            <a:r>
              <a:rPr dirty="0" sz="1800" spc="-10"/>
              <a:t>Creator:</a:t>
            </a:r>
            <a:r>
              <a:rPr dirty="0" sz="1800" spc="-15"/>
              <a:t> </a:t>
            </a:r>
            <a:r>
              <a:rPr dirty="0" sz="1800"/>
              <a:t>Collect</a:t>
            </a:r>
            <a:r>
              <a:rPr dirty="0" sz="1800" spc="-55"/>
              <a:t> </a:t>
            </a:r>
            <a:r>
              <a:rPr dirty="0" sz="1800"/>
              <a:t>and</a:t>
            </a:r>
            <a:r>
              <a:rPr dirty="0" sz="1800" spc="-10"/>
              <a:t> </a:t>
            </a:r>
            <a:r>
              <a:rPr dirty="0" sz="1800"/>
              <a:t>combine</a:t>
            </a:r>
            <a:r>
              <a:rPr dirty="0" sz="1800" spc="-15"/>
              <a:t> </a:t>
            </a:r>
            <a:r>
              <a:rPr dirty="0" sz="1800"/>
              <a:t>learning</a:t>
            </a:r>
            <a:r>
              <a:rPr dirty="0" sz="1800" spc="-10"/>
              <a:t> </a:t>
            </a:r>
            <a:r>
              <a:rPr dirty="0" sz="1800"/>
              <a:t>artifacts with</a:t>
            </a:r>
            <a:r>
              <a:rPr dirty="0" sz="1800" spc="-10"/>
              <a:t> </a:t>
            </a:r>
            <a:r>
              <a:rPr dirty="0" sz="1800"/>
              <a:t>audio</a:t>
            </a:r>
            <a:r>
              <a:rPr dirty="0" sz="1800" spc="-5"/>
              <a:t> </a:t>
            </a:r>
            <a:r>
              <a:rPr dirty="0" sz="1800" spc="-10"/>
              <a:t>recording </a:t>
            </a:r>
            <a:r>
              <a:rPr dirty="0" sz="1800"/>
              <a:t>and</a:t>
            </a:r>
            <a:r>
              <a:rPr dirty="0" sz="1800" spc="25"/>
              <a:t> </a:t>
            </a:r>
            <a:r>
              <a:rPr dirty="0" sz="1800" spc="-10"/>
              <a:t>reflection.</a:t>
            </a:r>
            <a:endParaRPr sz="1800"/>
          </a:p>
          <a:p>
            <a:pPr marL="869950" indent="-228600">
              <a:lnSpc>
                <a:spcPts val="2100"/>
              </a:lnSpc>
              <a:buAutoNum type="arabicPeriod"/>
              <a:tabLst>
                <a:tab pos="869950" algn="l"/>
              </a:tabLst>
            </a:pPr>
            <a:r>
              <a:rPr dirty="0" sz="1800"/>
              <a:t>Seesaw:</a:t>
            </a:r>
            <a:r>
              <a:rPr dirty="0" sz="1800" spc="-25"/>
              <a:t> </a:t>
            </a:r>
            <a:r>
              <a:rPr dirty="0" sz="1800"/>
              <a:t>Create</a:t>
            </a:r>
            <a:r>
              <a:rPr dirty="0" sz="1800" spc="-30"/>
              <a:t> </a:t>
            </a:r>
            <a:r>
              <a:rPr dirty="0" sz="1800"/>
              <a:t>digital</a:t>
            </a:r>
            <a:r>
              <a:rPr dirty="0" sz="1800" spc="-35"/>
              <a:t> </a:t>
            </a:r>
            <a:r>
              <a:rPr dirty="0" sz="1800"/>
              <a:t>portfolios</a:t>
            </a:r>
            <a:r>
              <a:rPr dirty="0" sz="1800" spc="-15"/>
              <a:t> </a:t>
            </a:r>
            <a:r>
              <a:rPr dirty="0" sz="1800"/>
              <a:t>for</a:t>
            </a:r>
            <a:r>
              <a:rPr dirty="0" sz="1800" spc="-10"/>
              <a:t> </a:t>
            </a:r>
            <a:r>
              <a:rPr dirty="0" sz="1800"/>
              <a:t>students</a:t>
            </a:r>
            <a:r>
              <a:rPr dirty="0" sz="1800" spc="-20"/>
              <a:t> </a:t>
            </a:r>
            <a:r>
              <a:rPr dirty="0" sz="1800"/>
              <a:t>to</a:t>
            </a:r>
            <a:r>
              <a:rPr dirty="0" sz="1800" spc="-90"/>
              <a:t> </a:t>
            </a:r>
            <a:r>
              <a:rPr dirty="0" sz="1800"/>
              <a:t>collect,</a:t>
            </a:r>
            <a:r>
              <a:rPr dirty="0" sz="1800" spc="5"/>
              <a:t> </a:t>
            </a:r>
            <a:r>
              <a:rPr dirty="0" sz="1800"/>
              <a:t>curate,</a:t>
            </a:r>
            <a:r>
              <a:rPr dirty="0" sz="1800" spc="-65"/>
              <a:t> </a:t>
            </a:r>
            <a:r>
              <a:rPr dirty="0" sz="1800"/>
              <a:t>and</a:t>
            </a:r>
            <a:r>
              <a:rPr dirty="0" sz="1800" spc="-20"/>
              <a:t> </a:t>
            </a:r>
            <a:r>
              <a:rPr dirty="0" sz="1800" spc="-10"/>
              <a:t>publish</a:t>
            </a:r>
            <a:endParaRPr sz="1800"/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spc="-10"/>
              <a:t>artifacts.</a:t>
            </a:r>
            <a:endParaRPr sz="1800"/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/>
              <a:t>Best</a:t>
            </a:r>
            <a:r>
              <a:rPr dirty="0" spc="-65"/>
              <a:t> </a:t>
            </a:r>
            <a:r>
              <a:rPr dirty="0" spc="-10"/>
              <a:t>Practices</a:t>
            </a:r>
            <a:r>
              <a:rPr dirty="0" spc="-45"/>
              <a:t> </a:t>
            </a:r>
            <a:r>
              <a:rPr dirty="0" spc="-50"/>
              <a:t>:</a:t>
            </a:r>
          </a:p>
          <a:p>
            <a:pPr lvl="1" marL="1342390" indent="-229235">
              <a:lnSpc>
                <a:spcPts val="2130"/>
              </a:lnSpc>
              <a:spcBef>
                <a:spcPts val="50"/>
              </a:spcBef>
              <a:buAutoNum type="arabicPeriod"/>
              <a:tabLst>
                <a:tab pos="1342390" algn="l"/>
              </a:tabLst>
            </a:pPr>
            <a:r>
              <a:rPr dirty="0" sz="1800" spc="-10" i="1">
                <a:latin typeface="Calibri"/>
                <a:cs typeface="Calibri"/>
              </a:rPr>
              <a:t>Keep</a:t>
            </a:r>
            <a:r>
              <a:rPr dirty="0" sz="1800" spc="-8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it</a:t>
            </a:r>
            <a:r>
              <a:rPr dirty="0" sz="1800" spc="-6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fresh: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Regularly</a:t>
            </a:r>
            <a:r>
              <a:rPr dirty="0" sz="1800" spc="3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update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your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portfolio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with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new projects</a:t>
            </a:r>
            <a:r>
              <a:rPr dirty="0" sz="1800" spc="-75" i="1">
                <a:latin typeface="Calibri"/>
                <a:cs typeface="Calibri"/>
              </a:rPr>
              <a:t> </a:t>
            </a:r>
            <a:r>
              <a:rPr dirty="0" sz="1800" spc="-25" i="1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dirty="0" sz="1800" spc="-10"/>
              <a:t>skills.</a:t>
            </a:r>
            <a:endParaRPr sz="1800"/>
          </a:p>
          <a:p>
            <a:pPr lvl="1" marL="1342390" indent="-229235">
              <a:lnSpc>
                <a:spcPct val="100000"/>
              </a:lnSpc>
              <a:spcBef>
                <a:spcPts val="15"/>
              </a:spcBef>
              <a:buAutoNum type="arabicPeriod" startAt="2"/>
              <a:tabLst>
                <a:tab pos="1342390" algn="l"/>
              </a:tabLst>
            </a:pPr>
            <a:r>
              <a:rPr dirty="0" sz="1800" i="1">
                <a:latin typeface="Calibri"/>
                <a:cs typeface="Calibri"/>
              </a:rPr>
              <a:t>Curate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content: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Select</a:t>
            </a:r>
            <a:r>
              <a:rPr dirty="0" sz="1800" spc="-5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samples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that</a:t>
            </a:r>
            <a:r>
              <a:rPr dirty="0" sz="1800" spc="-6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reflect</a:t>
            </a:r>
            <a:r>
              <a:rPr dirty="0" sz="1800" spc="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your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work</a:t>
            </a:r>
            <a:r>
              <a:rPr dirty="0" sz="1800" spc="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and</a:t>
            </a:r>
            <a:r>
              <a:rPr dirty="0" sz="1800" spc="-10" i="1">
                <a:latin typeface="Calibri"/>
                <a:cs typeface="Calibri"/>
              </a:rPr>
              <a:t> goals.</a:t>
            </a:r>
            <a:endParaRPr sz="1800">
              <a:latin typeface="Calibri"/>
              <a:cs typeface="Calibri"/>
            </a:endParaRPr>
          </a:p>
          <a:p>
            <a:pPr lvl="1" marL="1394460" indent="-2286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1394460" algn="l"/>
              </a:tabLst>
            </a:pPr>
            <a:r>
              <a:rPr dirty="0" sz="1800" i="1">
                <a:latin typeface="Calibri"/>
                <a:cs typeface="Calibri"/>
              </a:rPr>
              <a:t>Make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it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easy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to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navigate: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Organize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your</a:t>
            </a:r>
            <a:r>
              <a:rPr dirty="0" sz="1800" spc="-8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portfolio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for</a:t>
            </a:r>
            <a:r>
              <a:rPr dirty="0" sz="1800" spc="-8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easy</a:t>
            </a:r>
            <a:r>
              <a:rPr dirty="0" sz="1800" spc="-50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viewing.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80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0409" y="282955"/>
            <a:ext cx="746760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/>
              <a:t>POTFOLIO</a:t>
            </a:r>
            <a:r>
              <a:rPr dirty="0" sz="3950" spc="140"/>
              <a:t> </a:t>
            </a:r>
            <a:r>
              <a:rPr dirty="0" sz="3950"/>
              <a:t>DESIGN</a:t>
            </a:r>
            <a:r>
              <a:rPr dirty="0" sz="3950" spc="-25"/>
              <a:t> </a:t>
            </a:r>
            <a:r>
              <a:rPr dirty="0" sz="3950"/>
              <a:t>AND</a:t>
            </a:r>
            <a:r>
              <a:rPr dirty="0" sz="3950" spc="170"/>
              <a:t> </a:t>
            </a:r>
            <a:r>
              <a:rPr dirty="0" sz="3950" spc="-10"/>
              <a:t>LAYOUT</a:t>
            </a:r>
            <a:endParaRPr sz="3950"/>
          </a:p>
        </p:txBody>
      </p:sp>
      <p:sp>
        <p:nvSpPr>
          <p:cNvPr id="5" name="object 5" descr=""/>
          <p:cNvSpPr/>
          <p:nvPr/>
        </p:nvSpPr>
        <p:spPr>
          <a:xfrm>
            <a:off x="10058400" y="523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27709" y="889952"/>
            <a:ext cx="10636250" cy="54279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i="1">
                <a:latin typeface="Calibri"/>
                <a:cs typeface="Calibri"/>
              </a:rPr>
              <a:t>Portfolio</a:t>
            </a:r>
            <a:r>
              <a:rPr dirty="0" sz="2750" spc="10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Design</a:t>
            </a:r>
            <a:r>
              <a:rPr dirty="0" sz="2750" spc="110" i="1">
                <a:latin typeface="Calibri"/>
                <a:cs typeface="Calibri"/>
              </a:rPr>
              <a:t> </a:t>
            </a:r>
            <a:r>
              <a:rPr dirty="0" sz="2750" spc="-20" i="1">
                <a:latin typeface="Calibri"/>
                <a:cs typeface="Calibri"/>
              </a:rPr>
              <a:t>Tips:</a:t>
            </a:r>
            <a:endParaRPr sz="2750">
              <a:latin typeface="Calibri"/>
              <a:cs typeface="Calibri"/>
            </a:endParaRPr>
          </a:p>
          <a:p>
            <a:pPr marL="2402840" indent="-350520">
              <a:lnSpc>
                <a:spcPct val="100000"/>
              </a:lnSpc>
              <a:spcBef>
                <a:spcPts val="2260"/>
              </a:spcBef>
              <a:buAutoNum type="arabicPeriod"/>
              <a:tabLst>
                <a:tab pos="2402840" algn="l"/>
              </a:tabLst>
            </a:pPr>
            <a:r>
              <a:rPr dirty="0" sz="2750" i="1">
                <a:latin typeface="Calibri"/>
                <a:cs typeface="Calibri"/>
              </a:rPr>
              <a:t>Keep</a:t>
            </a:r>
            <a:r>
              <a:rPr dirty="0" sz="2750" spc="9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it</a:t>
            </a:r>
            <a:r>
              <a:rPr dirty="0" sz="2750" spc="7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simple</a:t>
            </a:r>
            <a:r>
              <a:rPr dirty="0" sz="2750" spc="12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and</a:t>
            </a:r>
            <a:r>
              <a:rPr dirty="0" sz="2750" spc="9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clean:</a:t>
            </a:r>
            <a:r>
              <a:rPr dirty="0" sz="2750" spc="2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Avoid</a:t>
            </a:r>
            <a:r>
              <a:rPr dirty="0" sz="2750" spc="95" i="1">
                <a:latin typeface="Calibri"/>
                <a:cs typeface="Calibri"/>
              </a:rPr>
              <a:t> </a:t>
            </a:r>
            <a:r>
              <a:rPr dirty="0" sz="2750" spc="-10" i="1">
                <a:latin typeface="Calibri"/>
                <a:cs typeface="Calibri"/>
              </a:rPr>
              <a:t>clutter.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AutoNum type="arabicPeriod"/>
            </a:pPr>
            <a:endParaRPr sz="2750">
              <a:latin typeface="Calibri"/>
              <a:cs typeface="Calibri"/>
            </a:endParaRPr>
          </a:p>
          <a:p>
            <a:pPr marL="2308225" indent="-351155">
              <a:lnSpc>
                <a:spcPct val="100000"/>
              </a:lnSpc>
              <a:buAutoNum type="arabicPeriod"/>
              <a:tabLst>
                <a:tab pos="2308225" algn="l"/>
              </a:tabLst>
            </a:pPr>
            <a:r>
              <a:rPr dirty="0" sz="2750" i="1">
                <a:latin typeface="Calibri"/>
                <a:cs typeface="Calibri"/>
              </a:rPr>
              <a:t>Use</a:t>
            </a:r>
            <a:r>
              <a:rPr dirty="0" sz="2750" spc="7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consistent</a:t>
            </a:r>
            <a:r>
              <a:rPr dirty="0" sz="2750" spc="11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branding:</a:t>
            </a:r>
            <a:r>
              <a:rPr dirty="0" sz="2750" spc="14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Same</a:t>
            </a:r>
            <a:r>
              <a:rPr dirty="0" sz="2750" spc="8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visual</a:t>
            </a:r>
            <a:r>
              <a:rPr dirty="0" sz="2750" spc="9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identity</a:t>
            </a:r>
            <a:r>
              <a:rPr dirty="0" sz="2750" spc="100" i="1">
                <a:latin typeface="Calibri"/>
                <a:cs typeface="Calibri"/>
              </a:rPr>
              <a:t> </a:t>
            </a:r>
            <a:r>
              <a:rPr dirty="0" sz="2750" spc="-10" i="1">
                <a:latin typeface="Calibri"/>
                <a:cs typeface="Calibri"/>
              </a:rPr>
              <a:t>throughout.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Calibri"/>
              <a:buAutoNum type="arabicPeriod"/>
            </a:pPr>
            <a:endParaRPr sz="2750">
              <a:latin typeface="Calibri"/>
              <a:cs typeface="Calibri"/>
            </a:endParaRPr>
          </a:p>
          <a:p>
            <a:pPr marL="2308225" indent="-351155">
              <a:lnSpc>
                <a:spcPct val="100000"/>
              </a:lnSpc>
              <a:buAutoNum type="arabicPeriod"/>
              <a:tabLst>
                <a:tab pos="2308225" algn="l"/>
              </a:tabLst>
            </a:pPr>
            <a:r>
              <a:rPr dirty="0" sz="2750" i="1">
                <a:latin typeface="Calibri"/>
                <a:cs typeface="Calibri"/>
              </a:rPr>
              <a:t>Clear</a:t>
            </a:r>
            <a:r>
              <a:rPr dirty="0" sz="2750" spc="8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navigation:</a:t>
            </a:r>
            <a:r>
              <a:rPr dirty="0" sz="2750" spc="8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Easy</a:t>
            </a:r>
            <a:r>
              <a:rPr dirty="0" sz="2750" spc="10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to</a:t>
            </a:r>
            <a:r>
              <a:rPr dirty="0" sz="2750" spc="6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find</a:t>
            </a:r>
            <a:r>
              <a:rPr dirty="0" sz="2750" spc="14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what</a:t>
            </a:r>
            <a:r>
              <a:rPr dirty="0" sz="2750" spc="10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visitors</a:t>
            </a:r>
            <a:r>
              <a:rPr dirty="0" sz="2750" spc="120" i="1">
                <a:latin typeface="Calibri"/>
                <a:cs typeface="Calibri"/>
              </a:rPr>
              <a:t> </a:t>
            </a:r>
            <a:r>
              <a:rPr dirty="0" sz="2750" spc="-10" i="1">
                <a:latin typeface="Calibri"/>
                <a:cs typeface="Calibri"/>
              </a:rPr>
              <a:t>need.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AutoNum type="arabicPeriod"/>
            </a:pPr>
            <a:endParaRPr sz="2750">
              <a:latin typeface="Calibri"/>
              <a:cs typeface="Calibri"/>
            </a:endParaRPr>
          </a:p>
          <a:p>
            <a:pPr marL="2227580" indent="-351790">
              <a:lnSpc>
                <a:spcPct val="100000"/>
              </a:lnSpc>
              <a:buAutoNum type="arabicPeriod"/>
              <a:tabLst>
                <a:tab pos="2227580" algn="l"/>
              </a:tabLst>
            </a:pPr>
            <a:r>
              <a:rPr dirty="0" sz="2750" i="1">
                <a:latin typeface="Calibri"/>
                <a:cs typeface="Calibri"/>
              </a:rPr>
              <a:t>Showcase</a:t>
            </a:r>
            <a:r>
              <a:rPr dirty="0" sz="2750" spc="9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best</a:t>
            </a:r>
            <a:r>
              <a:rPr dirty="0" sz="2750" spc="12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work:</a:t>
            </a:r>
            <a:r>
              <a:rPr dirty="0" sz="2750" spc="8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Curate</a:t>
            </a:r>
            <a:r>
              <a:rPr dirty="0" sz="2750" spc="18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strongest</a:t>
            </a:r>
            <a:r>
              <a:rPr dirty="0" sz="2750" spc="130" i="1">
                <a:latin typeface="Calibri"/>
                <a:cs typeface="Calibri"/>
              </a:rPr>
              <a:t> </a:t>
            </a:r>
            <a:r>
              <a:rPr dirty="0" sz="2750" spc="-10" i="1">
                <a:latin typeface="Calibri"/>
                <a:cs typeface="Calibri"/>
              </a:rPr>
              <a:t>projects.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Calibri"/>
              <a:buAutoNum type="arabicPeriod"/>
            </a:pPr>
            <a:endParaRPr sz="2750">
              <a:latin typeface="Calibri"/>
              <a:cs typeface="Calibri"/>
            </a:endParaRPr>
          </a:p>
          <a:p>
            <a:pPr marL="2227580" indent="-35179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227580" algn="l"/>
              </a:tabLst>
            </a:pPr>
            <a:r>
              <a:rPr dirty="0" sz="2750" i="1">
                <a:latin typeface="Calibri"/>
                <a:cs typeface="Calibri"/>
              </a:rPr>
              <a:t>High-quality</a:t>
            </a:r>
            <a:r>
              <a:rPr dirty="0" sz="2750" spc="16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images:</a:t>
            </a:r>
            <a:r>
              <a:rPr dirty="0" sz="2750" spc="13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Use</a:t>
            </a:r>
            <a:r>
              <a:rPr dirty="0" sz="2750" spc="15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high-resolution</a:t>
            </a:r>
            <a:r>
              <a:rPr dirty="0" sz="2750" spc="210" i="1">
                <a:latin typeface="Calibri"/>
                <a:cs typeface="Calibri"/>
              </a:rPr>
              <a:t> </a:t>
            </a:r>
            <a:r>
              <a:rPr dirty="0" sz="2750" spc="-10" i="1">
                <a:latin typeface="Calibri"/>
                <a:cs typeface="Calibri"/>
              </a:rPr>
              <a:t>images.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Calibri"/>
              <a:buAutoNum type="arabicPeriod"/>
            </a:pPr>
            <a:endParaRPr sz="2750">
              <a:latin typeface="Calibri"/>
              <a:cs typeface="Calibri"/>
            </a:endParaRPr>
          </a:p>
          <a:p>
            <a:pPr marL="2065020" indent="-351155">
              <a:lnSpc>
                <a:spcPct val="100000"/>
              </a:lnSpc>
              <a:buAutoNum type="arabicPeriod"/>
              <a:tabLst>
                <a:tab pos="2065020" algn="l"/>
              </a:tabLst>
            </a:pPr>
            <a:r>
              <a:rPr dirty="0" sz="2750" i="1">
                <a:latin typeface="Calibri"/>
                <a:cs typeface="Calibri"/>
              </a:rPr>
              <a:t>Easy</a:t>
            </a:r>
            <a:r>
              <a:rPr dirty="0" sz="2750" spc="8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to</a:t>
            </a:r>
            <a:r>
              <a:rPr dirty="0" sz="2750" spc="4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scan:</a:t>
            </a:r>
            <a:r>
              <a:rPr dirty="0" sz="2750" spc="5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Use</a:t>
            </a:r>
            <a:r>
              <a:rPr dirty="0" sz="2750" spc="6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headings</a:t>
            </a:r>
            <a:r>
              <a:rPr dirty="0" sz="2750" spc="85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and</a:t>
            </a:r>
            <a:r>
              <a:rPr dirty="0" sz="2750" spc="110" i="1">
                <a:latin typeface="Calibri"/>
                <a:cs typeface="Calibri"/>
              </a:rPr>
              <a:t> </a:t>
            </a:r>
            <a:r>
              <a:rPr dirty="0" sz="2750" i="1">
                <a:latin typeface="Calibri"/>
                <a:cs typeface="Calibri"/>
              </a:rPr>
              <a:t>bullet</a:t>
            </a:r>
            <a:r>
              <a:rPr dirty="0" sz="2750" spc="95" i="1">
                <a:latin typeface="Calibri"/>
                <a:cs typeface="Calibri"/>
              </a:rPr>
              <a:t> </a:t>
            </a:r>
            <a:r>
              <a:rPr dirty="0" sz="2750" spc="-10" i="1">
                <a:latin typeface="Calibri"/>
                <a:cs typeface="Calibri"/>
              </a:rPr>
              <a:t>points.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391" rIns="0" bIns="0" rtlCol="0" vert="horz">
            <a:spAutoFit/>
          </a:bodyPr>
          <a:lstStyle/>
          <a:p>
            <a:pPr marL="19748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FEATURES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10"/>
              <a:t> FUNCTIONALITY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0236" y="1457960"/>
            <a:ext cx="4383405" cy="45510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-10" i="1">
                <a:latin typeface="Calibri"/>
                <a:cs typeface="Calibri"/>
              </a:rPr>
              <a:t>Features</a:t>
            </a:r>
            <a:r>
              <a:rPr dirty="0" sz="2000" spc="-10" i="1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1213485" indent="-28638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1213485" algn="l"/>
              </a:tabLst>
            </a:pPr>
            <a:r>
              <a:rPr dirty="0" sz="2000" i="1">
                <a:latin typeface="Calibri"/>
                <a:cs typeface="Calibri"/>
              </a:rPr>
              <a:t>Project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showcases</a:t>
            </a:r>
            <a:endParaRPr sz="2000">
              <a:latin typeface="Calibri"/>
              <a:cs typeface="Calibri"/>
            </a:endParaRPr>
          </a:p>
          <a:p>
            <a:pPr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sz="2000" i="1">
                <a:latin typeface="Calibri"/>
                <a:cs typeface="Calibri"/>
              </a:rPr>
              <a:t>Image/video</a:t>
            </a:r>
            <a:r>
              <a:rPr dirty="0" sz="2000" spc="-9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galleries</a:t>
            </a:r>
            <a:endParaRPr sz="2000">
              <a:latin typeface="Calibri"/>
              <a:cs typeface="Calibri"/>
            </a:endParaRPr>
          </a:p>
          <a:p>
            <a:pPr marL="12134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213485" algn="l"/>
              </a:tabLst>
            </a:pPr>
            <a:r>
              <a:rPr dirty="0" sz="2000" i="1">
                <a:latin typeface="Calibri"/>
                <a:cs typeface="Calibri"/>
              </a:rPr>
              <a:t>Case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studies</a:t>
            </a:r>
            <a:endParaRPr sz="2000">
              <a:latin typeface="Calibri"/>
              <a:cs typeface="Calibri"/>
            </a:endParaRPr>
          </a:p>
          <a:p>
            <a:pPr marL="127063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270635" algn="l"/>
              </a:tabLst>
            </a:pPr>
            <a:r>
              <a:rPr dirty="0" sz="2000" i="1">
                <a:latin typeface="Calibri"/>
                <a:cs typeface="Calibri"/>
              </a:rPr>
              <a:t>Skills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&amp;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expertise</a:t>
            </a:r>
            <a:endParaRPr sz="2000">
              <a:latin typeface="Calibri"/>
              <a:cs typeface="Calibri"/>
            </a:endParaRPr>
          </a:p>
          <a:p>
            <a:pPr marL="1327785" indent="-400685">
              <a:lnSpc>
                <a:spcPct val="100000"/>
              </a:lnSpc>
              <a:buFont typeface="Arial MT"/>
              <a:buChar char="•"/>
              <a:tabLst>
                <a:tab pos="1327785" algn="l"/>
              </a:tabLst>
            </a:pPr>
            <a:r>
              <a:rPr dirty="0" sz="2000" spc="-10" i="1">
                <a:latin typeface="Calibri"/>
                <a:cs typeface="Calibri"/>
              </a:rPr>
              <a:t>Testimonials</a:t>
            </a:r>
            <a:endParaRPr sz="2000">
              <a:latin typeface="Calibri"/>
              <a:cs typeface="Calibri"/>
            </a:endParaRPr>
          </a:p>
          <a:p>
            <a:pPr marL="1327785" indent="-4006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327785" algn="l"/>
              </a:tabLst>
            </a:pPr>
            <a:r>
              <a:rPr dirty="0" sz="2000" i="1">
                <a:latin typeface="Calibri"/>
                <a:cs typeface="Calibri"/>
              </a:rPr>
              <a:t>Blog/news</a:t>
            </a:r>
            <a:r>
              <a:rPr dirty="0" sz="2000" spc="-8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section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dirty="0" sz="2750" spc="-10" i="1">
                <a:latin typeface="Calibri"/>
                <a:cs typeface="Calibri"/>
              </a:rPr>
              <a:t>Facilities</a:t>
            </a:r>
            <a:r>
              <a:rPr dirty="0" sz="2000" spc="-10" i="1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1270635" indent="-34353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1270635" algn="l"/>
              </a:tabLst>
            </a:pPr>
            <a:r>
              <a:rPr dirty="0" sz="2000" spc="-10" i="1">
                <a:latin typeface="Calibri"/>
                <a:cs typeface="Calibri"/>
              </a:rPr>
              <a:t>Customization</a:t>
            </a:r>
            <a:endParaRPr sz="2000">
              <a:latin typeface="Calibri"/>
              <a:cs typeface="Calibri"/>
            </a:endParaRPr>
          </a:p>
          <a:p>
            <a:pPr marL="127063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270635" algn="l"/>
              </a:tabLst>
            </a:pPr>
            <a:r>
              <a:rPr dirty="0" sz="2000" i="1">
                <a:latin typeface="Calibri"/>
                <a:cs typeface="Calibri"/>
              </a:rPr>
              <a:t>Easy</a:t>
            </a:r>
            <a:r>
              <a:rPr dirty="0" sz="2000" spc="-11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updating</a:t>
            </a:r>
            <a:endParaRPr sz="2000">
              <a:latin typeface="Calibri"/>
              <a:cs typeface="Calibri"/>
            </a:endParaRPr>
          </a:p>
          <a:p>
            <a:pPr marL="127063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270635" algn="l"/>
              </a:tabLst>
            </a:pPr>
            <a:r>
              <a:rPr dirty="0" sz="2000" spc="-25" i="1">
                <a:latin typeface="Calibri"/>
                <a:cs typeface="Calibri"/>
              </a:rPr>
              <a:t>SEO</a:t>
            </a:r>
            <a:endParaRPr sz="2000">
              <a:latin typeface="Calibri"/>
              <a:cs typeface="Calibri"/>
            </a:endParaRPr>
          </a:p>
          <a:p>
            <a:pPr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sz="2000" spc="-10" i="1">
                <a:latin typeface="Calibri"/>
                <a:cs typeface="Calibri"/>
              </a:rPr>
              <a:t>Responsive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design</a:t>
            </a:r>
            <a:endParaRPr sz="2000">
              <a:latin typeface="Calibri"/>
              <a:cs typeface="Calibri"/>
            </a:endParaRPr>
          </a:p>
          <a:p>
            <a:pPr marL="12134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213485" algn="l"/>
              </a:tabLst>
            </a:pPr>
            <a:r>
              <a:rPr dirty="0" sz="2000" spc="-10" i="1">
                <a:latin typeface="Calibri"/>
                <a:cs typeface="Calibri"/>
              </a:rPr>
              <a:t>Contact/feedback</a:t>
            </a:r>
            <a:r>
              <a:rPr dirty="0" sz="2000" spc="-6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mechanisms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38375"/>
            <a:ext cx="2524124" cy="395287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40409" y="6472554"/>
            <a:ext cx="1790064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C83C3"/>
                </a:solidFill>
                <a:latin typeface="Trebuchet MS"/>
                <a:cs typeface="Trebuchet MS"/>
              </a:rPr>
              <a:t>3/21/2024</a:t>
            </a:r>
            <a:r>
              <a:rPr dirty="0" sz="1100" spc="150">
                <a:solidFill>
                  <a:srgbClr val="2C83C3"/>
                </a:solidFill>
                <a:latin typeface="Trebuchet MS"/>
                <a:cs typeface="Trebuchet MS"/>
              </a:rPr>
              <a:t>  </a:t>
            </a:r>
            <a:r>
              <a:rPr dirty="0" sz="1100" b="1">
                <a:solidFill>
                  <a:srgbClr val="2C83C3"/>
                </a:solidFill>
                <a:latin typeface="Trebuchet MS"/>
                <a:cs typeface="Trebuchet MS"/>
              </a:rPr>
              <a:t>Annual</a:t>
            </a:r>
            <a:r>
              <a:rPr dirty="0" sz="1100" spc="-95" b="1">
                <a:solidFill>
                  <a:srgbClr val="2C83C3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2C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269" rIns="0" bIns="0" rtlCol="0" vert="horz">
            <a:spAutoFit/>
          </a:bodyPr>
          <a:lstStyle/>
          <a:p>
            <a:pPr marL="194310">
              <a:lnSpc>
                <a:spcPct val="100000"/>
              </a:lnSpc>
              <a:spcBef>
                <a:spcPts val="130"/>
              </a:spcBef>
            </a:pPr>
            <a:r>
              <a:rPr dirty="0" sz="4250"/>
              <a:t>RESULTS</a:t>
            </a:r>
            <a:r>
              <a:rPr dirty="0" sz="4250" spc="10"/>
              <a:t> </a:t>
            </a:r>
            <a:r>
              <a:rPr dirty="0" sz="4250"/>
              <a:t>AND</a:t>
            </a:r>
            <a:r>
              <a:rPr dirty="0" sz="4250" spc="-20"/>
              <a:t> </a:t>
            </a:r>
            <a:r>
              <a:rPr dirty="0" sz="4250" spc="-10"/>
              <a:t>SCREENSHOTS</a:t>
            </a:r>
            <a:endParaRPr sz="4250"/>
          </a:p>
        </p:txBody>
      </p:sp>
      <p:sp>
        <p:nvSpPr>
          <p:cNvPr id="8" name="object 8" descr=""/>
          <p:cNvSpPr txBox="1"/>
          <p:nvPr/>
        </p:nvSpPr>
        <p:spPr>
          <a:xfrm>
            <a:off x="11311255" y="6466840"/>
            <a:ext cx="17780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25">
                <a:solidFill>
                  <a:srgbClr val="2C926B"/>
                </a:solidFill>
                <a:latin typeface="Trebuchet MS"/>
                <a:cs typeface="Trebuchet MS"/>
              </a:rPr>
              <a:t>10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06675" y="1576324"/>
            <a:ext cx="1217930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i="1">
                <a:latin typeface="Calibri"/>
                <a:cs typeface="Calibri"/>
              </a:rPr>
              <a:t>Results</a:t>
            </a:r>
            <a:r>
              <a:rPr dirty="0" sz="2750" spc="50" i="1">
                <a:latin typeface="Calibri"/>
                <a:cs typeface="Calibri"/>
              </a:rPr>
              <a:t> </a:t>
            </a:r>
            <a:r>
              <a:rPr dirty="0" sz="2750" spc="-50" i="1">
                <a:latin typeface="Calibri"/>
                <a:cs typeface="Calibri"/>
              </a:rPr>
              <a:t>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606675" y="2006028"/>
            <a:ext cx="8218805" cy="39624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210185" indent="805180">
              <a:lnSpc>
                <a:spcPct val="100800"/>
              </a:lnSpc>
              <a:spcBef>
                <a:spcPts val="85"/>
              </a:spcBef>
              <a:buAutoNum type="arabicPeriod"/>
              <a:tabLst>
                <a:tab pos="817880" algn="l"/>
              </a:tabLst>
            </a:pPr>
            <a:r>
              <a:rPr dirty="0" sz="1800" spc="-10" i="1">
                <a:latin typeface="Calibri"/>
                <a:cs typeface="Calibri"/>
              </a:rPr>
              <a:t>Professional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online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presence: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-5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well-designed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digital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portfolio</a:t>
            </a:r>
            <a:r>
              <a:rPr dirty="0" sz="1800" spc="-8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showcases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spc="-20" i="1">
                <a:latin typeface="Calibri"/>
                <a:cs typeface="Calibri"/>
              </a:rPr>
              <a:t>your </a:t>
            </a:r>
            <a:r>
              <a:rPr dirty="0" sz="1800" i="1">
                <a:latin typeface="Calibri"/>
                <a:cs typeface="Calibri"/>
              </a:rPr>
              <a:t>skills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and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experience.</a:t>
            </a:r>
            <a:endParaRPr sz="1800">
              <a:latin typeface="Calibri"/>
              <a:cs typeface="Calibri"/>
            </a:endParaRPr>
          </a:p>
          <a:p>
            <a:pPr marL="12700" marR="67310" indent="857885">
              <a:lnSpc>
                <a:spcPct val="100800"/>
              </a:lnSpc>
              <a:buAutoNum type="arabicPeriod"/>
              <a:tabLst>
                <a:tab pos="870585" algn="l"/>
              </a:tabLst>
            </a:pPr>
            <a:r>
              <a:rPr dirty="0" sz="1800" i="1">
                <a:latin typeface="Calibri"/>
                <a:cs typeface="Calibri"/>
              </a:rPr>
              <a:t>Increased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visibility: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Potential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employers,</a:t>
            </a:r>
            <a:r>
              <a:rPr dirty="0" sz="1800" spc="-6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clients,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or</a:t>
            </a:r>
            <a:r>
              <a:rPr dirty="0" sz="1800" spc="-10" i="1">
                <a:latin typeface="Calibri"/>
                <a:cs typeface="Calibri"/>
              </a:rPr>
              <a:t> collaborators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can</a:t>
            </a:r>
            <a:r>
              <a:rPr dirty="0" sz="1800" spc="-8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easily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spc="-20" i="1">
                <a:latin typeface="Calibri"/>
                <a:cs typeface="Calibri"/>
              </a:rPr>
              <a:t>find </a:t>
            </a:r>
            <a:r>
              <a:rPr dirty="0" sz="1800" i="1">
                <a:latin typeface="Calibri"/>
                <a:cs typeface="Calibri"/>
              </a:rPr>
              <a:t>and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view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your </a:t>
            </a:r>
            <a:r>
              <a:rPr dirty="0" sz="1800" spc="-10" i="1">
                <a:latin typeface="Calibri"/>
                <a:cs typeface="Calibri"/>
              </a:rPr>
              <a:t>work.</a:t>
            </a:r>
            <a:endParaRPr sz="1800">
              <a:latin typeface="Calibri"/>
              <a:cs typeface="Calibri"/>
            </a:endParaRPr>
          </a:p>
          <a:p>
            <a:pPr marL="817880" indent="-228600">
              <a:lnSpc>
                <a:spcPts val="2105"/>
              </a:lnSpc>
              <a:buAutoNum type="arabicPeriod"/>
              <a:tabLst>
                <a:tab pos="817880" algn="l"/>
              </a:tabLst>
            </a:pPr>
            <a:r>
              <a:rPr dirty="0" sz="1800" spc="-10" i="1">
                <a:latin typeface="Calibri"/>
                <a:cs typeface="Calibri"/>
              </a:rPr>
              <a:t>Improved</a:t>
            </a:r>
            <a:r>
              <a:rPr dirty="0" sz="1800" spc="-8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credibility: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polished</a:t>
            </a:r>
            <a:r>
              <a:rPr dirty="0" sz="1800" spc="-8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portfolio</a:t>
            </a:r>
            <a:r>
              <a:rPr dirty="0" sz="1800" spc="-8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demonstrates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your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expertise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spc="-25" i="1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 spc="-10" i="1">
                <a:latin typeface="Calibri"/>
                <a:cs typeface="Calibri"/>
              </a:rPr>
              <a:t>professionalism.</a:t>
            </a:r>
            <a:endParaRPr sz="1800">
              <a:latin typeface="Calibri"/>
              <a:cs typeface="Calibri"/>
            </a:endParaRPr>
          </a:p>
          <a:p>
            <a:pPr marL="81280">
              <a:lnSpc>
                <a:spcPct val="100000"/>
              </a:lnSpc>
              <a:spcBef>
                <a:spcPts val="2125"/>
              </a:spcBef>
            </a:pPr>
            <a:r>
              <a:rPr dirty="0" sz="2400" i="1">
                <a:latin typeface="Calibri"/>
                <a:cs typeface="Calibri"/>
              </a:rPr>
              <a:t>A</a:t>
            </a:r>
            <a:r>
              <a:rPr dirty="0" sz="2400" spc="-4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screenshot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of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a</a:t>
            </a:r>
            <a:r>
              <a:rPr dirty="0" sz="2400" spc="-9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digital</a:t>
            </a:r>
            <a:r>
              <a:rPr dirty="0" sz="2400" spc="-9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portfolio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might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show:</a:t>
            </a:r>
            <a:endParaRPr sz="2400">
              <a:latin typeface="Calibri"/>
              <a:cs typeface="Calibri"/>
            </a:endParaRPr>
          </a:p>
          <a:p>
            <a:pPr lvl="1" marL="1919605" indent="-229235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919605" algn="l"/>
              </a:tabLst>
            </a:pPr>
            <a:r>
              <a:rPr dirty="0" sz="1800" i="1">
                <a:latin typeface="Calibri"/>
                <a:cs typeface="Calibri"/>
              </a:rPr>
              <a:t>Home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page: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clean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and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simple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design with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-7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brief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introduction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spc="-25" i="1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i="1">
                <a:latin typeface="Calibri"/>
                <a:cs typeface="Calibri"/>
              </a:rPr>
              <a:t>navigation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menu.</a:t>
            </a:r>
            <a:endParaRPr sz="1800">
              <a:latin typeface="Calibri"/>
              <a:cs typeface="Calibri"/>
            </a:endParaRPr>
          </a:p>
          <a:p>
            <a:pPr lvl="1" marL="12700" marR="749300" indent="1849120">
              <a:lnSpc>
                <a:spcPct val="100800"/>
              </a:lnSpc>
              <a:buAutoNum type="arabicPeriod" startAt="2"/>
              <a:tabLst>
                <a:tab pos="1861820" algn="l"/>
              </a:tabLst>
            </a:pPr>
            <a:r>
              <a:rPr dirty="0" sz="1800" i="1">
                <a:latin typeface="Calibri"/>
                <a:cs typeface="Calibri"/>
              </a:rPr>
              <a:t>Project</a:t>
            </a:r>
            <a:r>
              <a:rPr dirty="0" sz="1800" spc="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showcases: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gallery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of images or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videos </a:t>
            </a:r>
            <a:r>
              <a:rPr dirty="0" sz="1800" spc="-10" i="1">
                <a:latin typeface="Calibri"/>
                <a:cs typeface="Calibri"/>
              </a:rPr>
              <a:t>showcasing completed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projects.</a:t>
            </a:r>
            <a:endParaRPr sz="1800">
              <a:latin typeface="Calibri"/>
              <a:cs typeface="Calibri"/>
            </a:endParaRPr>
          </a:p>
          <a:p>
            <a:pPr lvl="1" marL="1919605" indent="-229235">
              <a:lnSpc>
                <a:spcPts val="2100"/>
              </a:lnSpc>
              <a:buAutoNum type="arabicPeriod" startAt="2"/>
              <a:tabLst>
                <a:tab pos="1919605" algn="l"/>
              </a:tabLst>
            </a:pPr>
            <a:r>
              <a:rPr dirty="0" sz="1800" i="1">
                <a:latin typeface="Calibri"/>
                <a:cs typeface="Calibri"/>
              </a:rPr>
              <a:t>Case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study: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detailed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examination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of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specific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project,</a:t>
            </a:r>
            <a:r>
              <a:rPr dirty="0" sz="1800" spc="-6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including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i="1">
                <a:latin typeface="Calibri"/>
                <a:cs typeface="Calibri"/>
              </a:rPr>
              <a:t>challenges,</a:t>
            </a:r>
            <a:r>
              <a:rPr dirty="0" sz="1800" spc="-6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solutions,</a:t>
            </a:r>
            <a:r>
              <a:rPr dirty="0" sz="1800" spc="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and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results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spc="-50" i="1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1325" y="5734050"/>
            <a:ext cx="223837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809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726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CONCLUSION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311255" y="6466840"/>
            <a:ext cx="17780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25">
                <a:solidFill>
                  <a:srgbClr val="2C926B"/>
                </a:solidFill>
                <a:latin typeface="Trebuchet MS"/>
                <a:cs typeface="Trebuchet MS"/>
              </a:rPr>
              <a:t>11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23085" y="1546224"/>
            <a:ext cx="9907270" cy="49149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20"/>
              </a:spcBef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well-</a:t>
            </a:r>
            <a:r>
              <a:rPr dirty="0" sz="3200" i="1">
                <a:latin typeface="Calibri"/>
                <a:cs typeface="Calibri"/>
              </a:rPr>
              <a:t>designed</a:t>
            </a:r>
            <a:r>
              <a:rPr dirty="0" sz="3200" spc="-4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digital</a:t>
            </a:r>
            <a:r>
              <a:rPr dirty="0" sz="3200" spc="-3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portfolio</a:t>
            </a:r>
            <a:r>
              <a:rPr dirty="0" sz="3200" spc="-10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is</a:t>
            </a:r>
            <a:r>
              <a:rPr dirty="0" sz="3200" spc="-7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essential</a:t>
            </a:r>
            <a:r>
              <a:rPr dirty="0" sz="3200" spc="-9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for</a:t>
            </a:r>
            <a:r>
              <a:rPr dirty="0" sz="3200" spc="-9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showcasing </a:t>
            </a:r>
            <a:r>
              <a:rPr dirty="0" sz="3200" i="1">
                <a:latin typeface="Calibri"/>
                <a:cs typeface="Calibri"/>
              </a:rPr>
              <a:t>your</a:t>
            </a:r>
            <a:r>
              <a:rPr dirty="0" sz="3200" spc="-7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skills,</a:t>
            </a:r>
            <a:r>
              <a:rPr dirty="0" sz="3200" spc="-65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experience,</a:t>
            </a:r>
            <a:r>
              <a:rPr dirty="0" sz="3200" spc="-6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and</a:t>
            </a:r>
            <a:r>
              <a:rPr dirty="0" sz="3200" spc="-2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accomplishments.</a:t>
            </a:r>
            <a:r>
              <a:rPr dirty="0" sz="3200" spc="-70" i="1">
                <a:latin typeface="Calibri"/>
                <a:cs typeface="Calibri"/>
              </a:rPr>
              <a:t> </a:t>
            </a:r>
            <a:r>
              <a:rPr dirty="0" sz="3200" spc="-25" i="1">
                <a:latin typeface="Calibri"/>
                <a:cs typeface="Calibri"/>
              </a:rPr>
              <a:t>By </a:t>
            </a:r>
            <a:r>
              <a:rPr dirty="0" sz="3200" i="1">
                <a:latin typeface="Calibri"/>
                <a:cs typeface="Calibri"/>
              </a:rPr>
              <a:t>incorporating</a:t>
            </a:r>
            <a:r>
              <a:rPr dirty="0" sz="3200" spc="-9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features</a:t>
            </a:r>
            <a:r>
              <a:rPr dirty="0" sz="3200" spc="-12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like</a:t>
            </a:r>
            <a:r>
              <a:rPr dirty="0" sz="3200" spc="-10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project</a:t>
            </a:r>
            <a:r>
              <a:rPr dirty="0" sz="3200" spc="-9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showcases,</a:t>
            </a:r>
            <a:r>
              <a:rPr dirty="0" sz="3200" spc="-12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case</a:t>
            </a:r>
            <a:r>
              <a:rPr dirty="0" sz="3200" spc="-11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studies, </a:t>
            </a:r>
            <a:r>
              <a:rPr dirty="0" sz="3200" i="1">
                <a:latin typeface="Calibri"/>
                <a:cs typeface="Calibri"/>
              </a:rPr>
              <a:t>and</a:t>
            </a:r>
            <a:r>
              <a:rPr dirty="0" sz="3200" spc="-5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testimonials,</a:t>
            </a:r>
            <a:r>
              <a:rPr dirty="0" sz="3200" spc="-2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you</a:t>
            </a:r>
            <a:r>
              <a:rPr dirty="0" sz="3200" spc="-114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can</a:t>
            </a:r>
            <a:r>
              <a:rPr dirty="0" sz="3200" spc="-114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demonstrate</a:t>
            </a:r>
            <a:r>
              <a:rPr dirty="0" sz="3200" spc="-7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your</a:t>
            </a:r>
            <a:r>
              <a:rPr dirty="0" sz="3200" spc="-8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expertise</a:t>
            </a:r>
            <a:r>
              <a:rPr dirty="0" sz="3200" spc="-75" i="1">
                <a:latin typeface="Calibri"/>
                <a:cs typeface="Calibri"/>
              </a:rPr>
              <a:t> </a:t>
            </a:r>
            <a:r>
              <a:rPr dirty="0" sz="3200" spc="-25" i="1">
                <a:latin typeface="Calibri"/>
                <a:cs typeface="Calibri"/>
              </a:rPr>
              <a:t>and </a:t>
            </a:r>
            <a:r>
              <a:rPr dirty="0" sz="3200" i="1">
                <a:latin typeface="Calibri"/>
                <a:cs typeface="Calibri"/>
              </a:rPr>
              <a:t>professionalism</a:t>
            </a:r>
            <a:r>
              <a:rPr dirty="0" sz="3200" spc="-14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to</a:t>
            </a:r>
            <a:r>
              <a:rPr dirty="0" sz="3200" spc="-13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potential</a:t>
            </a:r>
            <a:r>
              <a:rPr dirty="0" sz="3200" spc="-5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employers,</a:t>
            </a:r>
            <a:r>
              <a:rPr dirty="0" sz="3200" spc="-11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clients,</a:t>
            </a:r>
            <a:r>
              <a:rPr dirty="0" sz="3200" spc="-114" i="1">
                <a:latin typeface="Calibri"/>
                <a:cs typeface="Calibri"/>
              </a:rPr>
              <a:t> </a:t>
            </a:r>
            <a:r>
              <a:rPr dirty="0" sz="3200" spc="-25" i="1">
                <a:latin typeface="Calibri"/>
                <a:cs typeface="Calibri"/>
              </a:rPr>
              <a:t>or </a:t>
            </a:r>
            <a:r>
              <a:rPr dirty="0" sz="3200" spc="-10" i="1">
                <a:latin typeface="Calibri"/>
                <a:cs typeface="Calibri"/>
              </a:rPr>
              <a:t>collaborators.</a:t>
            </a:r>
            <a:r>
              <a:rPr dirty="0" sz="3200" spc="-3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By</a:t>
            </a:r>
            <a:r>
              <a:rPr dirty="0" sz="3200" spc="-11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following</a:t>
            </a:r>
            <a:r>
              <a:rPr dirty="0" sz="3200" spc="-4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guidelines</a:t>
            </a:r>
            <a:r>
              <a:rPr dirty="0" sz="3200" spc="-8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such</a:t>
            </a:r>
            <a:r>
              <a:rPr dirty="0" sz="3200" spc="-4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as</a:t>
            </a:r>
            <a:r>
              <a:rPr dirty="0" sz="3200" spc="-9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defining</a:t>
            </a:r>
            <a:r>
              <a:rPr dirty="0" sz="3200" spc="-45" i="1">
                <a:latin typeface="Calibri"/>
                <a:cs typeface="Calibri"/>
              </a:rPr>
              <a:t> </a:t>
            </a:r>
            <a:r>
              <a:rPr dirty="0" sz="3200" spc="-20" i="1">
                <a:latin typeface="Calibri"/>
                <a:cs typeface="Calibri"/>
              </a:rPr>
              <a:t>your </a:t>
            </a:r>
            <a:r>
              <a:rPr dirty="0" sz="3200" i="1">
                <a:latin typeface="Calibri"/>
                <a:cs typeface="Calibri"/>
              </a:rPr>
              <a:t>goals,</a:t>
            </a:r>
            <a:r>
              <a:rPr dirty="0" sz="3200" spc="-1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choosing</a:t>
            </a:r>
            <a:r>
              <a:rPr dirty="0" sz="3200" spc="-10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the</a:t>
            </a:r>
            <a:r>
              <a:rPr dirty="0" sz="3200" spc="-7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right</a:t>
            </a:r>
            <a:r>
              <a:rPr dirty="0" sz="3200" spc="-6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platform,</a:t>
            </a:r>
            <a:r>
              <a:rPr dirty="0" sz="3200" spc="-8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curating</a:t>
            </a:r>
            <a:r>
              <a:rPr dirty="0" sz="3200" spc="-10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your</a:t>
            </a:r>
            <a:r>
              <a:rPr dirty="0" sz="3200" spc="-2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content, </a:t>
            </a:r>
            <a:r>
              <a:rPr dirty="0" sz="3200" i="1">
                <a:latin typeface="Calibri"/>
                <a:cs typeface="Calibri"/>
              </a:rPr>
              <a:t>and</a:t>
            </a:r>
            <a:r>
              <a:rPr dirty="0" sz="3200" spc="-3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designing</a:t>
            </a:r>
            <a:r>
              <a:rPr dirty="0" sz="3200" spc="-4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for</a:t>
            </a:r>
            <a:r>
              <a:rPr dirty="0" sz="3200" spc="-15" i="1">
                <a:latin typeface="Calibri"/>
                <a:cs typeface="Calibri"/>
              </a:rPr>
              <a:t> </a:t>
            </a:r>
            <a:r>
              <a:rPr dirty="0" sz="3200" spc="-20" i="1">
                <a:latin typeface="Calibri"/>
                <a:cs typeface="Calibri"/>
              </a:rPr>
              <a:t>usability,</a:t>
            </a:r>
            <a:r>
              <a:rPr dirty="0" sz="3200" spc="-7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you</a:t>
            </a:r>
            <a:r>
              <a:rPr dirty="0" sz="3200" spc="-3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can</a:t>
            </a:r>
            <a:r>
              <a:rPr dirty="0" sz="3200" spc="-4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create</a:t>
            </a:r>
            <a:r>
              <a:rPr dirty="0" sz="3200" spc="-6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a</a:t>
            </a:r>
            <a:r>
              <a:rPr dirty="0" sz="3200" spc="-10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digital</a:t>
            </a:r>
            <a:r>
              <a:rPr dirty="0" sz="3200" spc="-9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portfolio </a:t>
            </a:r>
            <a:r>
              <a:rPr dirty="0" sz="3200" i="1">
                <a:latin typeface="Calibri"/>
                <a:cs typeface="Calibri"/>
              </a:rPr>
              <a:t>that</a:t>
            </a:r>
            <a:r>
              <a:rPr dirty="0" sz="3200" spc="-5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effectively</a:t>
            </a:r>
            <a:r>
              <a:rPr dirty="0" sz="3200" spc="-9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showcases</a:t>
            </a:r>
            <a:r>
              <a:rPr dirty="0" sz="3200" spc="-7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your</a:t>
            </a:r>
            <a:r>
              <a:rPr dirty="0" sz="3200" spc="-7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skills</a:t>
            </a:r>
            <a:r>
              <a:rPr dirty="0" sz="3200" spc="-6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and</a:t>
            </a:r>
            <a:r>
              <a:rPr dirty="0" sz="3200" spc="-3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helps</a:t>
            </a:r>
            <a:r>
              <a:rPr dirty="0" sz="3200" spc="-70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you</a:t>
            </a:r>
            <a:r>
              <a:rPr dirty="0" sz="3200" spc="-35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achieve </a:t>
            </a:r>
            <a:r>
              <a:rPr dirty="0" sz="3200" i="1">
                <a:latin typeface="Calibri"/>
                <a:cs typeface="Calibri"/>
              </a:rPr>
              <a:t>your</a:t>
            </a:r>
            <a:r>
              <a:rPr dirty="0" sz="3200" spc="-7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goals.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0435" y="2102167"/>
            <a:ext cx="6051550" cy="13646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750" i="1">
                <a:latin typeface="Trebuchet MS"/>
                <a:cs typeface="Trebuchet MS"/>
              </a:rPr>
              <a:t>Thanks</a:t>
            </a:r>
            <a:r>
              <a:rPr dirty="0" sz="8750" spc="40" i="1">
                <a:latin typeface="Trebuchet MS"/>
                <a:cs typeface="Trebuchet MS"/>
              </a:rPr>
              <a:t> </a:t>
            </a:r>
            <a:r>
              <a:rPr dirty="0" sz="8750" spc="-25" i="1">
                <a:latin typeface="Trebuchet MS"/>
                <a:cs typeface="Trebuchet MS"/>
              </a:rPr>
              <a:t>you</a:t>
            </a:r>
            <a:endParaRPr sz="8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2025-09-03T06:02:34Z</dcterms:created>
  <dcterms:modified xsi:type="dcterms:W3CDTF">2025-09-03T06:02:34Z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2025-09-03T00:00:00Z</vt:filetime>
  </property>
  <property fmtid="{D5CDD505-2E9C-101B-9397-08002B2CF9AE}" pid="3" name="LastSaved">
    <vt:filetime>2025-09-03T00:00:00Z</vt:filetime>
  </property>
</Properties>
</file>